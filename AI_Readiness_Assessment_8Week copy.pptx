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3" r:id="rId18"/>
    <p:sldId id="274" r:id="rId19"/>
    <p:sldId id="275" r:id="rId20"/>
    <p:sldId id="276" r:id="rId21"/>
    <p:sldId id="277" r:id="rId22"/>
    <p:sldId id="271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6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03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Enablement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F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 — Implementation Ready in 8 Weeks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 AI Investments: Databricks · Microsoft Purview · Azure AI Foundry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10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readiness assessment and architecture design exercise — not an AI delivery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45312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Technical leads &amp; architects  ·  Scoring: 1–5 maturity model  ·  4 dimensions assessed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0" y="274320"/>
            <a:ext cx="1280160" cy="1280160"/>
          </a:xfrm>
          <a:prstGeom prst="ellipse">
            <a:avLst/>
          </a:prstGeom>
          <a:solidFill>
            <a:srgbClr val="C81E1E">
              <a:alpha val="75000"/>
            </a:srgbClr>
          </a:solidFill>
          <a:ln w="12700">
            <a:solidFill>
              <a:srgbClr val="C81E1E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1554480"/>
            <a:ext cx="914400" cy="914400"/>
          </a:xfrm>
          <a:prstGeom prst="ellipse">
            <a:avLst/>
          </a:prstGeom>
          <a:solidFill>
            <a:srgbClr val="1A56DB">
              <a:alpha val="70000"/>
            </a:srgbClr>
          </a:solidFill>
          <a:ln w="12700">
            <a:solidFill>
              <a:srgbClr val="1A56D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60320"/>
            <a:ext cx="594360" cy="594360"/>
          </a:xfrm>
          <a:prstGeom prst="ellipse">
            <a:avLst/>
          </a:prstGeom>
          <a:solidFill>
            <a:srgbClr val="0E9F6E">
              <a:alpha val="65000"/>
            </a:srgbClr>
          </a:solidFill>
          <a:ln w="12700">
            <a:solidFill>
              <a:srgbClr val="0E9F6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Context &amp;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280160"/>
          </a:xfrm>
          <a:prstGeom prst="rect">
            <a:avLst/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12801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Corp's AI and analytics investments — Databricks, Microsoft Purview and Azure AI Foundry — are committed. These platforms require a CDM-governed, medallion-structured data foundation to operate accurately and safely. This workstream assesses readiness and defines the path from current state to an AI-capable ecosystem. It is a readiness assessment and architecture design exercise, not an AI delivery project.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Deliverables from this workstream: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C2BD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14600"/>
            <a:ext cx="2057400" cy="64008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151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Platform Integration Blueprint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CDM, Databricks, Purview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 work together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2514600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514600"/>
            <a:ext cx="205740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6151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Enterprise Knowledge Graph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42032" y="2999232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· Instance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· Vector tiers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514600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85A3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514600"/>
            <a:ext cx="205740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26151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AI Control Tower Requirements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18304" y="2999232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audit 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2514600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514600"/>
            <a:ext cx="2057400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261518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Data Quality Certification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94576" y="2999232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framework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per tier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1363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boundary: This workstream does NOT deliver working AI agents, production connectors, or a deployed data pipeline — it delivers the architecture, assessment, and certified-data design that enables those projects to begin safely.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Methodology  ·  1–5 Maturity Scale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dimensions ≥ 4/5 by Week 8. Scores &lt; 3 are hard blockers before any AI platform connects to CDM data.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 Committed AI Platforms  ·  Current Readiness vs CDM Dependency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platforms depend on CDM-governed medallion data. CDM foundation must reach Gold tier before AI platforms can operate accurately.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Deliverables — Architecture Design Outputs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architecture and design deliverables — specifications, frameworks and blueprints that enable subsequent AI delivery projects.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Graph — 4-Tier Architecture Design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and Lineage tiers score 1/5 — no existing structure. Vector tier (AI Search) does not exist. All 4 tiers are deliverable D2.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Medallion Architecture — Platform Integration Blueprint (D1)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 flows to AI Foundry after passing CDM Gold certification + Purview PII tagging + AI Control Tower policy check.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1 of 4  ·  AI Maturity Assessment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 Tower (1/5) and Vector tier (1/5) are the critical design gaps. Foundry workspace exists but is not configured for CDM-governed data.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2 of 4  ·  Data Readiness &amp; Governance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(1/5) and CDM Gold (1/5) are hard blockers. No data should enter AI Foundry until both are resolved and DQ certification framework is live.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Readiness Heatmap  ·  All Dimensions × All Platforms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scores RED across every single dimension — provisioning it in Week 1 is the single highest-leverage action in the entire 8-week program.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&amp; Remediation — Prioritised (Ball Corp)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gaps must be resolved before Week 3. No AI platform should receive CDM data until Purview, Gold tier and AI Control Tower specs are complete.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Architecture-Ready Program — Ball Corp Sprint Timeline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state: CDM Gold certified + Purview live + Knowledge Graph designed + AI Foundry integration tested = architecture-ready for AI delivery projects.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Sprint Detail — Ball Corp 8-Week Program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713232"/>
            <a:ext cx="2084832" cy="502920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71323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96926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 &amp; Governance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2084832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C81E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298448"/>
            <a:ext cx="128016" cy="128016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Microsoft Purview (Day 1 hard start)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874520"/>
            <a:ext cx="128016" cy="128016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562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CDM ontology + entity taxonomy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450592"/>
            <a:ext cx="128016" cy="128016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AI Control Tower requirements spec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3026664"/>
            <a:ext cx="128016" cy="128016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API access request + Legacy inventory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602736"/>
            <a:ext cx="128016" cy="128016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844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PII/PCI/PHI classification rules for CDM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4178808"/>
            <a:ext cx="128016" cy="128016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0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external Purview/CDM specialist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95728" y="713232"/>
            <a:ext cx="2084832" cy="502920"/>
          </a:xfrm>
          <a:prstGeom prst="rect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95728" y="71323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3–4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95728" y="96926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CDM Medallion + DQ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95728" y="1207008"/>
            <a:ext cx="2084832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C2780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87168" y="1298448"/>
            <a:ext cx="128016" cy="128016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280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Silver pipeline (dedup + CDM alignment)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87168" y="1874520"/>
            <a:ext cx="128016" cy="128016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8562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Gold pipeline + DQ certification gate rules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87168" y="2450592"/>
            <a:ext cx="128016" cy="128016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24323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tagging integration with Databricks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3026664"/>
            <a:ext cx="128016" cy="128016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0083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Ontology + Instance tier design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87168" y="3602736"/>
            <a:ext cx="128016" cy="128016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35844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remaining sources to Bronze layer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87168" y="4178808"/>
            <a:ext cx="128016" cy="128016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4160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scoring framework per medallion tier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90288" y="713232"/>
            <a:ext cx="208483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90288" y="71323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90288" y="96926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Knowledge Graph + AI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90288" y="1207008"/>
            <a:ext cx="2084832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1728" y="1298448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1280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Lineage tier (Purview-driven)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81728" y="1874520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18562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Graph: Vector tier (AI Search index)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81728" y="2450592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4323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Search: embed CDM Gold entities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81728" y="3026664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0083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Foundry integration test (CDM → LLM query)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81728" y="3602736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5844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certification scoring live in Databricks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81728" y="4178808"/>
            <a:ext cx="128016" cy="12801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160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Control Tower policy spec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784848" y="713232"/>
            <a:ext cx="2084832" cy="50292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84848" y="71323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7–8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84848" y="96926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Validate &amp; Certify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84848" y="1207008"/>
            <a:ext cx="2084832" cy="3822192"/>
          </a:xfrm>
          <a:prstGeom prst="rect">
            <a:avLst/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76288" y="1298448"/>
            <a:ext cx="128016" cy="12801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1280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review (all 4 dims)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76288" y="1874520"/>
            <a:ext cx="128016" cy="12801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0" y="18562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scoring — all dims ≥ 4/5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76288" y="2450592"/>
            <a:ext cx="128016" cy="12801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24323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 Blueprint (D1) finalised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76288" y="3026664"/>
            <a:ext cx="128016" cy="12801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40880" y="30083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design (D2) finalised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876288" y="3602736"/>
            <a:ext cx="128016" cy="12801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40880" y="35844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 Tower requirements (D3) finalised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876288" y="4178808"/>
            <a:ext cx="128016" cy="12801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40880" y="4160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Certification Framework (D4) finalised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Implement — Ball Corp Gaps Mapped to Architecture Layers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84048"/>
            <a:ext cx="89611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4910328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Enterprise AI Data Agent Architecture Deck alongside this assessment. Each gap row references the exact diagram and layer to follow.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Architecture-Ready — 8 Exit Criteria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criteria must score ≥ 4/5 before any AI delivery project begins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60704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81E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60704"/>
            <a:ext cx="4251960" cy="6400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37744" cy="237744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live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provisioned, CDM entities catalogued, PII/PCI/PHI tags applied, lineage tracking active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0016" y="1060704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81E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1060704"/>
            <a:ext cx="4251960" cy="6400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1188720"/>
            <a:ext cx="237744" cy="237744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88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Gold tier certified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28032" y="14813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gates defined and passing per medallion tier. Gold data certified for AI consumption.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1993392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D85A3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993392"/>
            <a:ext cx="425196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121408"/>
            <a:ext cx="237744" cy="237744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21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 Tower spec complete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24140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requirements documented. Prompt audit, RBAC, model governance specs signed off.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0016" y="1993392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993392"/>
            <a:ext cx="425196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2121408"/>
            <a:ext cx="237744" cy="23774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1214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all 4 tiers designed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28032" y="24140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Ontology, Instance, Lineage, Vector tiers fully specified and validated against CDM schema.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2926080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6C2BD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926080"/>
            <a:ext cx="4251960" cy="64008"/>
          </a:xfrm>
          <a:prstGeom prst="rect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054096"/>
            <a:ext cx="237744" cy="237744"/>
          </a:xfrm>
          <a:prstGeom prst="ellipse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0540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integration blueprint (D1)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" y="33467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from CDM Bronze to Silver to Gold to Purview to AI Foundry documented and agreed.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0016" y="2926080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2926080"/>
            <a:ext cx="4251960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9744" y="3054096"/>
            <a:ext cx="237744" cy="23774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30540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30358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certification framework (D4)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28032" y="33467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rules per tier, AI readiness score criteria, automated scoring in Databricks live.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3858768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0E9F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3858768"/>
            <a:ext cx="4251960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986784"/>
            <a:ext cx="237744" cy="237744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9867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" y="3968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tier (AI Search) indexed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84048" y="42793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Gold entities embedded in Azure AI Search. Hybrid search returning relevant results.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0016" y="3858768"/>
            <a:ext cx="42519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81E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0016" y="3858768"/>
            <a:ext cx="4251960" cy="64008"/>
          </a:xfrm>
          <a:prstGeom prst="rect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9744" y="3986784"/>
            <a:ext cx="237744" cy="237744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9867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20640" y="3968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governance sign-off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828032" y="42793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review complete. No P1 lineage, PII, or access control gaps open.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59" y="1280160"/>
            <a:ext cx="7653447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Enterprise Orchestration Architecture RoadMap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 for all key architecture components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diagrams follow — suitable for technical and executive audiences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2063F-F26F-B4C2-A92B-78E08D97A839}"/>
              </a:ext>
            </a:extLst>
          </p:cNvPr>
          <p:cNvSpPr txBox="1"/>
          <p:nvPr/>
        </p:nvSpPr>
        <p:spPr>
          <a:xfrm>
            <a:off x="3592864" y="-299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1 of 5  ·  Full Architecture — 10 Layers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0"/>
            <a:ext cx="886968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489204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⑤ Semantic and ⑦ Data Fingerprinting are new additions highlighted in orange and red.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2 of 5  ·  End-to-End Request Flow — 10 Steps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0"/>
            <a:ext cx="886968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489204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 (step 6) reduces response time from ~12s sequential to ~3s.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3 of 5  ·  Semantic Layer — Business Glossary &amp; Term Unification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0"/>
            <a:ext cx="886968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489204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nightly (schema harvest) and per-query (term resolution, cached in Redis 24h TTL).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4 of 5  ·  Data Fingerprinting — Governance, Privacy &amp; Lineage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0"/>
            <a:ext cx="886968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489204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steps run inline per record fetch. Lineage write to Purview is async and non-blocking.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5 of 5  ·  Integration Map — 7 Enterprise Systems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0"/>
            <a:ext cx="886968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4892040"/>
            <a:ext cx="8869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spoke shows the connection method: REST/OAuth2, SDK, AgentForce API, Table API, Graph API, Direct SQL, MCP Server.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 — AI Enablement &amp; Future State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26464"/>
            <a:ext cx="347472" cy="347472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26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1417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assessment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9312" y="14173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dimension scorecards with CDM, Databricks, Purview and AI Foundry leads. Agree on current scores and P1 gaps.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29968"/>
            <a:ext cx="347472" cy="347472"/>
          </a:xfrm>
          <a:prstGeom prst="ellipse">
            <a:avLst/>
          </a:prstGeom>
          <a:solidFill>
            <a:srgbClr val="C81E1E"/>
          </a:solidFill>
          <a:ln w="12700">
            <a:solidFill>
              <a:srgbClr val="C81E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2020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Purview — Day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9312" y="202082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scores 1/5 across ALL dimensions. Provisioning it is the single highest-leverage action. Raise this ticket before leaving the room.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347472" cy="347472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6384" y="2624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Phase 1 sprint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26243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Purview, define CDM ontology, begin AI Control Tower spec. Engage external CDM/Purview specialist immediately.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36976"/>
            <a:ext cx="347472" cy="347472"/>
          </a:xfrm>
          <a:prstGeom prst="ellipse">
            <a:avLst/>
          </a:prstGeom>
          <a:solidFill>
            <a:srgbClr val="C27803"/>
          </a:solidFill>
          <a:ln w="12700">
            <a:solidFill>
              <a:srgbClr val="C278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369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32278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CDM Gold certification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39312" y="322783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platform should receive data until Gold tier has defined DQ gates. Block AI Foundry access until Gold + Purview are live.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" y="38313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Architecture Deck for implementation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39312" y="383133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maps to a layer in the Enterprise AI Data Agent Architecture Deck. Use Diagrams 1–5 as the technical implementation guide.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443984"/>
            <a:ext cx="347472" cy="347472"/>
          </a:xfrm>
          <a:prstGeom prst="ellipse">
            <a:avLst/>
          </a:prstGeom>
          <a:solidFill>
            <a:srgbClr val="6C2BD9"/>
          </a:solidFill>
          <a:ln w="12700">
            <a:solidFill>
              <a:srgbClr val="6C2B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443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" y="4434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2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8 exit criteria at Week 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39312" y="44348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commence AI delivery projects until all 8 architecture-ready criteria score 4/5 or above and governance sign-off is obtained.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4099</TotalTime>
  <Words>1408</Words>
  <Application>Microsoft Macintosh PowerPoint</Application>
  <PresentationFormat>On-screen Show (16:9)</PresentationFormat>
  <Paragraphs>160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 Corp — AI Readiness Assessment &amp; 8-Week Program</dc:title>
  <dc:subject>PptxGenJS Presentation</dc:subject>
  <dc:creator>PptxGenJS</dc:creator>
  <cp:lastModifiedBy>venkat B</cp:lastModifiedBy>
  <cp:revision>3</cp:revision>
  <dcterms:created xsi:type="dcterms:W3CDTF">2026-04-24T17:44:27Z</dcterms:created>
  <dcterms:modified xsi:type="dcterms:W3CDTF">2026-04-27T14:38:14Z</dcterms:modified>
</cp:coreProperties>
</file>