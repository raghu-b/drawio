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1" d="100"/>
          <a:sy n="131"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107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and numbering as the detailed architecture (boxes 1–24), with plain-English labels.
Top row: how a request enters — users (1), front door (2), identity (3), admin control (4), and the AI model router (5).
Middle: the orchestrator (6) runs AI agents and uses memory (7). Agents draw on document reading, search and knowledge graph (8–11), connect to SAP, AVEVA PI and MES through tools (12), and use cache and events (13–14).
Foundation row: data and storage (15–16), approved prompts (17), answer-quality checks (18), human approval (19), cost tracking (20) and monitoring (21).
Right: security and governance (22) apply everywhere. Bottom: safe deployment (23) and backup/recovery (24).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11430000" cy="384048"/>
          </a:xfrm>
          <a:prstGeom prst="rect">
            <a:avLst/>
          </a:prstGeom>
          <a:noFill/>
          <a:ln/>
        </p:spPr>
        <p:txBody>
          <a:bodyPr wrap="square" lIns="0" tIns="0" rIns="0" bIns="0" rtlCol="0" anchor="ctr"/>
          <a:lstStyle/>
          <a:p>
            <a:pPr marL="0" indent="0">
              <a:buNone/>
            </a:pPr>
            <a:r>
              <a:rPr lang="en-US" sz="2100" b="1" dirty="0">
                <a:solidFill>
                  <a:srgbClr val="1F3864"/>
                </a:solidFill>
                <a:latin typeface="Calibri" pitchFamily="34" charset="0"/>
                <a:ea typeface="Calibri" pitchFamily="34" charset="-122"/>
                <a:cs typeface="Calibri" pitchFamily="34" charset="-120"/>
              </a:rPr>
              <a:t>BALL CORPORATION — ENTERPRISE AGENTIC AI ARCHITECTURE ON AZURE (2026)</a:t>
            </a:r>
            <a:endParaRPr lang="en-US" sz="2100" dirty="0"/>
          </a:p>
        </p:txBody>
      </p:sp>
      <p:sp>
        <p:nvSpPr>
          <p:cNvPr id="3" name="Text 1"/>
          <p:cNvSpPr/>
          <p:nvPr/>
        </p:nvSpPr>
        <p:spPr>
          <a:xfrm>
            <a:off x="365760" y="512064"/>
            <a:ext cx="11430000" cy="237744"/>
          </a:xfrm>
          <a:prstGeom prst="rect">
            <a:avLst/>
          </a:prstGeom>
          <a:noFill/>
          <a:ln/>
        </p:spPr>
        <p:txBody>
          <a:bodyPr wrap="square" lIns="0" tIns="0" rIns="0" bIns="0" rtlCol="0" anchor="ctr"/>
          <a:lstStyle/>
          <a:p>
            <a:pPr marL="0" indent="0">
              <a:buNone/>
            </a:pPr>
            <a:r>
              <a:rPr lang="en-US" sz="1050" b="1" dirty="0">
                <a:solidFill>
                  <a:srgbClr val="2F6FB0"/>
                </a:solidFill>
                <a:latin typeface="Calibri" pitchFamily="34" charset="0"/>
                <a:ea typeface="Calibri" pitchFamily="34" charset="-122"/>
                <a:cs typeface="Calibri" pitchFamily="34" charset="-120"/>
              </a:rPr>
              <a:t>Simplified executive view   |   Production-Ready · Modular · Secure · Observable · Azure-Native · Foundry-First · Cost Governed · Plant to Cloud</a:t>
            </a:r>
            <a:endParaRPr lang="en-US" sz="1050" dirty="0"/>
          </a:p>
        </p:txBody>
      </p:sp>
      <p:sp>
        <p:nvSpPr>
          <p:cNvPr id="4" name="Shape 2"/>
          <p:cNvSpPr/>
          <p:nvPr/>
        </p:nvSpPr>
        <p:spPr>
          <a:xfrm>
            <a:off x="365760" y="841248"/>
            <a:ext cx="1600200" cy="1024128"/>
          </a:xfrm>
          <a:prstGeom prst="roundRect">
            <a:avLst>
              <a:gd name="adj" fmla="val 4464"/>
            </a:avLst>
          </a:prstGeom>
          <a:solidFill>
            <a:srgbClr val="FFFFFF"/>
          </a:solidFill>
          <a:ln w="15875">
            <a:solidFill>
              <a:srgbClr val="4A5A70"/>
            </a:solidFill>
            <a:prstDash val="solid"/>
          </a:ln>
        </p:spPr>
      </p:sp>
      <p:sp>
        <p:nvSpPr>
          <p:cNvPr id="5" name="Text 3"/>
          <p:cNvSpPr/>
          <p:nvPr/>
        </p:nvSpPr>
        <p:spPr>
          <a:xfrm>
            <a:off x="429768" y="886968"/>
            <a:ext cx="1490472" cy="950976"/>
          </a:xfrm>
          <a:prstGeom prst="rect">
            <a:avLst/>
          </a:prstGeom>
          <a:noFill/>
          <a:ln/>
        </p:spPr>
        <p:txBody>
          <a:bodyPr wrap="square" lIns="0" tIns="0" rIns="0" bIns="0" rtlCol="0" anchor="t"/>
          <a:lstStyle/>
          <a:p>
            <a:pPr marL="0" indent="0" algn="l">
              <a:spcAft>
                <a:spcPts val="100"/>
              </a:spcAft>
              <a:buNone/>
            </a:pPr>
            <a:r>
              <a:rPr lang="en-US" sz="980" b="1" dirty="0">
                <a:solidFill>
                  <a:srgbClr val="4A5A70"/>
                </a:solidFill>
                <a:latin typeface="Calibri" pitchFamily="34" charset="0"/>
                <a:ea typeface="Calibri" pitchFamily="34" charset="-122"/>
                <a:cs typeface="Calibri" pitchFamily="34" charset="-120"/>
              </a:rPr>
              <a:t>1. Client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Where people ask</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Plant ops web app</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Mobile (line-side)</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Teams / Copilot</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Partner APIs</a:t>
            </a:r>
            <a:endParaRPr lang="en-US" sz="980" dirty="0"/>
          </a:p>
        </p:txBody>
      </p:sp>
      <p:sp>
        <p:nvSpPr>
          <p:cNvPr id="6" name="Shape 4"/>
          <p:cNvSpPr/>
          <p:nvPr/>
        </p:nvSpPr>
        <p:spPr>
          <a:xfrm>
            <a:off x="1965960" y="1353312"/>
            <a:ext cx="91440" cy="0"/>
          </a:xfrm>
          <a:prstGeom prst="line">
            <a:avLst/>
          </a:prstGeom>
          <a:noFill/>
          <a:ln w="15875">
            <a:solidFill>
              <a:srgbClr val="8A99AD"/>
            </a:solidFill>
            <a:prstDash val="solid"/>
            <a:tailEnd type="triangle"/>
          </a:ln>
        </p:spPr>
      </p:sp>
      <p:sp>
        <p:nvSpPr>
          <p:cNvPr id="7" name="Shape 5"/>
          <p:cNvSpPr/>
          <p:nvPr/>
        </p:nvSpPr>
        <p:spPr>
          <a:xfrm>
            <a:off x="2057400" y="841248"/>
            <a:ext cx="1600200" cy="1024128"/>
          </a:xfrm>
          <a:prstGeom prst="roundRect">
            <a:avLst>
              <a:gd name="adj" fmla="val 4464"/>
            </a:avLst>
          </a:prstGeom>
          <a:solidFill>
            <a:srgbClr val="FFFFFF"/>
          </a:solidFill>
          <a:ln w="15875">
            <a:solidFill>
              <a:srgbClr val="4A5A70"/>
            </a:solidFill>
            <a:prstDash val="solid"/>
          </a:ln>
        </p:spPr>
      </p:sp>
      <p:sp>
        <p:nvSpPr>
          <p:cNvPr id="8" name="Text 6"/>
          <p:cNvSpPr/>
          <p:nvPr/>
        </p:nvSpPr>
        <p:spPr>
          <a:xfrm>
            <a:off x="2121408" y="886968"/>
            <a:ext cx="1490472" cy="950976"/>
          </a:xfrm>
          <a:prstGeom prst="rect">
            <a:avLst/>
          </a:prstGeom>
          <a:noFill/>
          <a:ln/>
        </p:spPr>
        <p:txBody>
          <a:bodyPr wrap="square" lIns="0" tIns="0" rIns="0" bIns="0" rtlCol="0" anchor="t"/>
          <a:lstStyle/>
          <a:p>
            <a:pPr marL="0" indent="0" algn="l">
              <a:spcAft>
                <a:spcPts val="100"/>
              </a:spcAft>
              <a:buNone/>
            </a:pPr>
            <a:r>
              <a:rPr lang="en-US" sz="980" b="1" dirty="0">
                <a:solidFill>
                  <a:srgbClr val="4A5A70"/>
                </a:solidFill>
                <a:latin typeface="Calibri" pitchFamily="34" charset="0"/>
                <a:ea typeface="Calibri" pitchFamily="34" charset="-122"/>
                <a:cs typeface="Calibri" pitchFamily="34" charset="-120"/>
              </a:rPr>
              <a:t>2. API Gateway</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One front door</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Routes &amp; balances traffic</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Rate limits &amp; validates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Azure Front Door + APIM</a:t>
            </a:r>
            <a:endParaRPr lang="en-US" sz="980" dirty="0"/>
          </a:p>
        </p:txBody>
      </p:sp>
      <p:sp>
        <p:nvSpPr>
          <p:cNvPr id="9" name="Shape 7"/>
          <p:cNvSpPr/>
          <p:nvPr/>
        </p:nvSpPr>
        <p:spPr>
          <a:xfrm>
            <a:off x="3657600" y="1353312"/>
            <a:ext cx="91440" cy="0"/>
          </a:xfrm>
          <a:prstGeom prst="line">
            <a:avLst/>
          </a:prstGeom>
          <a:noFill/>
          <a:ln w="15875">
            <a:solidFill>
              <a:srgbClr val="8A99AD"/>
            </a:solidFill>
            <a:prstDash val="solid"/>
            <a:tailEnd type="triangle"/>
          </a:ln>
        </p:spPr>
      </p:sp>
      <p:sp>
        <p:nvSpPr>
          <p:cNvPr id="10" name="Shape 8"/>
          <p:cNvSpPr/>
          <p:nvPr/>
        </p:nvSpPr>
        <p:spPr>
          <a:xfrm>
            <a:off x="3749040" y="841248"/>
            <a:ext cx="1828800" cy="1024128"/>
          </a:xfrm>
          <a:prstGeom prst="roundRect">
            <a:avLst>
              <a:gd name="adj" fmla="val 4464"/>
            </a:avLst>
          </a:prstGeom>
          <a:solidFill>
            <a:srgbClr val="FFFFFF"/>
          </a:solidFill>
          <a:ln w="15875">
            <a:solidFill>
              <a:srgbClr val="4A5A70"/>
            </a:solidFill>
            <a:prstDash val="solid"/>
          </a:ln>
        </p:spPr>
      </p:sp>
      <p:sp>
        <p:nvSpPr>
          <p:cNvPr id="11" name="Text 9"/>
          <p:cNvSpPr/>
          <p:nvPr/>
        </p:nvSpPr>
        <p:spPr>
          <a:xfrm>
            <a:off x="3813048" y="886968"/>
            <a:ext cx="1719072" cy="950976"/>
          </a:xfrm>
          <a:prstGeom prst="rect">
            <a:avLst/>
          </a:prstGeom>
          <a:noFill/>
          <a:ln/>
        </p:spPr>
        <p:txBody>
          <a:bodyPr wrap="square" lIns="0" tIns="0" rIns="0" bIns="0" rtlCol="0" anchor="t"/>
          <a:lstStyle/>
          <a:p>
            <a:pPr marL="0" indent="0" algn="l">
              <a:spcAft>
                <a:spcPts val="100"/>
              </a:spcAft>
              <a:buNone/>
            </a:pPr>
            <a:r>
              <a:rPr lang="en-US" sz="980" b="1" dirty="0">
                <a:solidFill>
                  <a:srgbClr val="4A5A70"/>
                </a:solidFill>
                <a:latin typeface="Calibri" pitchFamily="34" charset="0"/>
                <a:ea typeface="Calibri" pitchFamily="34" charset="-122"/>
                <a:cs typeface="Calibri" pitchFamily="34" charset="-120"/>
              </a:rPr>
              <a:t>3. Identity &amp; Access</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Who can do what</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Single sign-on &amp; MFA</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Role-based permissions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Microsoft Entra ID</a:t>
            </a:r>
            <a:endParaRPr lang="en-US" sz="980" dirty="0"/>
          </a:p>
        </p:txBody>
      </p:sp>
      <p:sp>
        <p:nvSpPr>
          <p:cNvPr id="12" name="Shape 10"/>
          <p:cNvSpPr/>
          <p:nvPr/>
        </p:nvSpPr>
        <p:spPr>
          <a:xfrm>
            <a:off x="5577840" y="1353312"/>
            <a:ext cx="91440" cy="0"/>
          </a:xfrm>
          <a:prstGeom prst="line">
            <a:avLst/>
          </a:prstGeom>
          <a:noFill/>
          <a:ln w="15875">
            <a:solidFill>
              <a:srgbClr val="8A99AD"/>
            </a:solidFill>
            <a:prstDash val="solid"/>
            <a:tailEnd type="triangle"/>
          </a:ln>
        </p:spPr>
      </p:sp>
      <p:sp>
        <p:nvSpPr>
          <p:cNvPr id="13" name="Shape 11"/>
          <p:cNvSpPr/>
          <p:nvPr/>
        </p:nvSpPr>
        <p:spPr>
          <a:xfrm>
            <a:off x="5669280" y="841248"/>
            <a:ext cx="2103120" cy="1024128"/>
          </a:xfrm>
          <a:prstGeom prst="roundRect">
            <a:avLst>
              <a:gd name="adj" fmla="val 4464"/>
            </a:avLst>
          </a:prstGeom>
          <a:solidFill>
            <a:srgbClr val="FFFFFF"/>
          </a:solidFill>
          <a:ln w="15875">
            <a:solidFill>
              <a:srgbClr val="4A5A70"/>
            </a:solidFill>
            <a:prstDash val="solid"/>
          </a:ln>
        </p:spPr>
      </p:sp>
      <p:sp>
        <p:nvSpPr>
          <p:cNvPr id="14" name="Text 12"/>
          <p:cNvSpPr/>
          <p:nvPr/>
        </p:nvSpPr>
        <p:spPr>
          <a:xfrm>
            <a:off x="5733288" y="886968"/>
            <a:ext cx="1993392" cy="950976"/>
          </a:xfrm>
          <a:prstGeom prst="rect">
            <a:avLst/>
          </a:prstGeom>
          <a:noFill/>
          <a:ln/>
        </p:spPr>
        <p:txBody>
          <a:bodyPr wrap="square" lIns="0" tIns="0" rIns="0" bIns="0" rtlCol="0" anchor="t"/>
          <a:lstStyle/>
          <a:p>
            <a:pPr marL="0" indent="0" algn="l">
              <a:spcAft>
                <a:spcPts val="100"/>
              </a:spcAft>
              <a:buNone/>
            </a:pPr>
            <a:r>
              <a:rPr lang="en-US" sz="980" b="1" dirty="0">
                <a:solidFill>
                  <a:srgbClr val="4A5A70"/>
                </a:solidFill>
                <a:latin typeface="Calibri" pitchFamily="34" charset="0"/>
                <a:ea typeface="Calibri" pitchFamily="34" charset="-122"/>
                <a:cs typeface="Calibri" pitchFamily="34" charset="-120"/>
              </a:rPr>
              <a:t>4. Admin &amp; Operations Panel</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Control center</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Users, roles &amp; policies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Agent &amp; model registry</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Prompts, knowledge, billing</a:t>
            </a:r>
            <a:endParaRPr lang="en-US" sz="980" dirty="0"/>
          </a:p>
        </p:txBody>
      </p:sp>
      <p:sp>
        <p:nvSpPr>
          <p:cNvPr id="15" name="Shape 13"/>
          <p:cNvSpPr/>
          <p:nvPr/>
        </p:nvSpPr>
        <p:spPr>
          <a:xfrm>
            <a:off x="7772400" y="1353312"/>
            <a:ext cx="91440" cy="0"/>
          </a:xfrm>
          <a:prstGeom prst="line">
            <a:avLst/>
          </a:prstGeom>
          <a:noFill/>
          <a:ln w="15875">
            <a:solidFill>
              <a:srgbClr val="8A99AD"/>
            </a:solidFill>
            <a:prstDash val="solid"/>
            <a:tailEnd type="triangle"/>
          </a:ln>
        </p:spPr>
      </p:sp>
      <p:sp>
        <p:nvSpPr>
          <p:cNvPr id="16" name="Shape 14"/>
          <p:cNvSpPr/>
          <p:nvPr/>
        </p:nvSpPr>
        <p:spPr>
          <a:xfrm>
            <a:off x="7863840" y="841248"/>
            <a:ext cx="2651760" cy="1024128"/>
          </a:xfrm>
          <a:prstGeom prst="roundRect">
            <a:avLst>
              <a:gd name="adj" fmla="val 4464"/>
            </a:avLst>
          </a:prstGeom>
          <a:solidFill>
            <a:srgbClr val="FFFFFF"/>
          </a:solidFill>
          <a:ln w="15875">
            <a:solidFill>
              <a:srgbClr val="2F6FB0"/>
            </a:solidFill>
            <a:prstDash val="solid"/>
          </a:ln>
        </p:spPr>
      </p:sp>
      <p:sp>
        <p:nvSpPr>
          <p:cNvPr id="17" name="Text 15"/>
          <p:cNvSpPr/>
          <p:nvPr/>
        </p:nvSpPr>
        <p:spPr>
          <a:xfrm>
            <a:off x="7927848" y="886968"/>
            <a:ext cx="2542032" cy="950976"/>
          </a:xfrm>
          <a:prstGeom prst="rect">
            <a:avLst/>
          </a:prstGeom>
          <a:noFill/>
          <a:ln/>
        </p:spPr>
        <p:txBody>
          <a:bodyPr wrap="square" lIns="0" tIns="0" rIns="0" bIns="0" rtlCol="0" anchor="t"/>
          <a:lstStyle/>
          <a:p>
            <a:pPr marL="0" indent="0" algn="l">
              <a:spcAft>
                <a:spcPts val="100"/>
              </a:spcAft>
              <a:buNone/>
            </a:pPr>
            <a:r>
              <a:rPr lang="en-US" sz="980" b="1" dirty="0">
                <a:solidFill>
                  <a:srgbClr val="2F6FB0"/>
                </a:solidFill>
                <a:latin typeface="Calibri" pitchFamily="34" charset="0"/>
                <a:ea typeface="Calibri" pitchFamily="34" charset="-122"/>
                <a:cs typeface="Calibri" pitchFamily="34" charset="-120"/>
              </a:rPr>
              <a:t>5. AI Gateway (Model Router)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Best model for each task</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Azure OpenAI &amp; Foundry models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Claude · Gemini · self-hosted</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Quotas &amp; fallbacks per plant</a:t>
            </a:r>
            <a:endParaRPr lang="en-US" sz="980" dirty="0"/>
          </a:p>
        </p:txBody>
      </p:sp>
      <p:sp>
        <p:nvSpPr>
          <p:cNvPr id="18" name="Shape 16"/>
          <p:cNvSpPr/>
          <p:nvPr/>
        </p:nvSpPr>
        <p:spPr>
          <a:xfrm>
            <a:off x="365760" y="1993392"/>
            <a:ext cx="6720840" cy="914400"/>
          </a:xfrm>
          <a:prstGeom prst="roundRect">
            <a:avLst>
              <a:gd name="adj" fmla="val 5000"/>
            </a:avLst>
          </a:prstGeom>
          <a:solidFill>
            <a:srgbClr val="F6F4FB"/>
          </a:solidFill>
          <a:ln w="15875">
            <a:solidFill>
              <a:srgbClr val="6B5BA8"/>
            </a:solidFill>
            <a:prstDash val="solid"/>
          </a:ln>
        </p:spPr>
      </p:sp>
      <p:sp>
        <p:nvSpPr>
          <p:cNvPr id="19" name="Text 17"/>
          <p:cNvSpPr/>
          <p:nvPr/>
        </p:nvSpPr>
        <p:spPr>
          <a:xfrm>
            <a:off x="429768" y="2039112"/>
            <a:ext cx="6611112" cy="841248"/>
          </a:xfrm>
          <a:prstGeom prst="rect">
            <a:avLst/>
          </a:prstGeom>
          <a:noFill/>
          <a:ln/>
        </p:spPr>
        <p:txBody>
          <a:bodyPr wrap="square" lIns="0" tIns="0" rIns="0" bIns="0" rtlCol="0" anchor="t"/>
          <a:lstStyle/>
          <a:p>
            <a:pPr marL="0" indent="0" algn="l">
              <a:spcAft>
                <a:spcPts val="100"/>
              </a:spcAft>
              <a:buNone/>
            </a:pPr>
            <a:r>
              <a:rPr lang="en-US" sz="980" b="1" dirty="0">
                <a:solidFill>
                  <a:srgbClr val="6B5BA8"/>
                </a:solidFill>
                <a:latin typeface="Calibri" pitchFamily="34" charset="0"/>
                <a:ea typeface="Calibri" pitchFamily="34" charset="-122"/>
                <a:cs typeface="Calibri" pitchFamily="34" charset="-120"/>
              </a:rPr>
              <a:t>6. Agent Orchestrator &amp; Workflow Engine</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Plans the work, runs steps, retries, and pauses for human approval</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AI agents: Planner · Quality · Maintenance · Supply · Spec · Sustainability · Analyst</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Built with Foundry Agent Service, Semantic Kernel, LangGraph, Durable Functions</a:t>
            </a:r>
            <a:endParaRPr lang="en-US" sz="980" dirty="0"/>
          </a:p>
        </p:txBody>
      </p:sp>
      <p:sp>
        <p:nvSpPr>
          <p:cNvPr id="20" name="Shape 18"/>
          <p:cNvSpPr/>
          <p:nvPr/>
        </p:nvSpPr>
        <p:spPr>
          <a:xfrm>
            <a:off x="7178040" y="1993392"/>
            <a:ext cx="3337560" cy="914400"/>
          </a:xfrm>
          <a:prstGeom prst="roundRect">
            <a:avLst>
              <a:gd name="adj" fmla="val 5000"/>
            </a:avLst>
          </a:prstGeom>
          <a:solidFill>
            <a:srgbClr val="FFF8EE"/>
          </a:solidFill>
          <a:ln w="15875">
            <a:solidFill>
              <a:srgbClr val="D98324"/>
            </a:solidFill>
            <a:prstDash val="solid"/>
          </a:ln>
        </p:spPr>
      </p:sp>
      <p:sp>
        <p:nvSpPr>
          <p:cNvPr id="21" name="Text 19"/>
          <p:cNvSpPr/>
          <p:nvPr/>
        </p:nvSpPr>
        <p:spPr>
          <a:xfrm>
            <a:off x="7242048" y="2039112"/>
            <a:ext cx="3227832" cy="841248"/>
          </a:xfrm>
          <a:prstGeom prst="rect">
            <a:avLst/>
          </a:prstGeom>
          <a:noFill/>
          <a:ln/>
        </p:spPr>
        <p:txBody>
          <a:bodyPr wrap="square" lIns="0" tIns="0" rIns="0" bIns="0" rtlCol="0" anchor="t"/>
          <a:lstStyle/>
          <a:p>
            <a:pPr marL="0" indent="0" algn="l">
              <a:spcAft>
                <a:spcPts val="100"/>
              </a:spcAft>
              <a:buNone/>
            </a:pPr>
            <a:r>
              <a:rPr lang="en-US" sz="980" b="1" dirty="0">
                <a:solidFill>
                  <a:srgbClr val="D98324"/>
                </a:solidFill>
                <a:latin typeface="Calibri" pitchFamily="34" charset="0"/>
                <a:ea typeface="Calibri" pitchFamily="34" charset="-122"/>
                <a:cs typeface="Calibri" pitchFamily="34" charset="-120"/>
              </a:rPr>
              <a:t>7. Memory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Remembers context</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Short-term &amp; conversation memory</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Long-term &amp; semantic memory</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Cosmos DB · Redis · AI Search</a:t>
            </a:r>
            <a:endParaRPr lang="en-US" sz="980" dirty="0"/>
          </a:p>
        </p:txBody>
      </p:sp>
      <p:sp>
        <p:nvSpPr>
          <p:cNvPr id="22" name="Shape 20"/>
          <p:cNvSpPr/>
          <p:nvPr/>
        </p:nvSpPr>
        <p:spPr>
          <a:xfrm>
            <a:off x="4663440" y="1865376"/>
            <a:ext cx="0" cy="128016"/>
          </a:xfrm>
          <a:prstGeom prst="line">
            <a:avLst/>
          </a:prstGeom>
          <a:noFill/>
          <a:ln w="15875">
            <a:solidFill>
              <a:srgbClr val="8A99AD"/>
            </a:solidFill>
            <a:prstDash val="solid"/>
            <a:tailEnd type="triangle"/>
          </a:ln>
        </p:spPr>
      </p:sp>
      <p:sp>
        <p:nvSpPr>
          <p:cNvPr id="23" name="Shape 21"/>
          <p:cNvSpPr/>
          <p:nvPr/>
        </p:nvSpPr>
        <p:spPr>
          <a:xfrm>
            <a:off x="8412480" y="1865376"/>
            <a:ext cx="0" cy="128016"/>
          </a:xfrm>
          <a:prstGeom prst="line">
            <a:avLst/>
          </a:prstGeom>
          <a:noFill/>
          <a:ln w="15875">
            <a:solidFill>
              <a:srgbClr val="8A99AD"/>
            </a:solidFill>
            <a:prstDash val="solid"/>
            <a:tailEnd type="triangle"/>
          </a:ln>
        </p:spPr>
      </p:sp>
      <p:sp>
        <p:nvSpPr>
          <p:cNvPr id="24" name="Shape 22"/>
          <p:cNvSpPr/>
          <p:nvPr/>
        </p:nvSpPr>
        <p:spPr>
          <a:xfrm>
            <a:off x="7086600" y="2450592"/>
            <a:ext cx="91440" cy="0"/>
          </a:xfrm>
          <a:prstGeom prst="line">
            <a:avLst/>
          </a:prstGeom>
          <a:noFill/>
          <a:ln w="15875">
            <a:solidFill>
              <a:srgbClr val="8A99AD"/>
            </a:solidFill>
            <a:prstDash val="solid"/>
            <a:tailEnd type="triangle"/>
          </a:ln>
        </p:spPr>
      </p:sp>
      <p:sp>
        <p:nvSpPr>
          <p:cNvPr id="25" name="Shape 23"/>
          <p:cNvSpPr/>
          <p:nvPr/>
        </p:nvSpPr>
        <p:spPr>
          <a:xfrm>
            <a:off x="1051560" y="3008376"/>
            <a:ext cx="8778240" cy="0"/>
          </a:xfrm>
          <a:prstGeom prst="line">
            <a:avLst/>
          </a:prstGeom>
          <a:noFill/>
          <a:ln w="15875">
            <a:solidFill>
              <a:srgbClr val="8A99AD"/>
            </a:solidFill>
            <a:prstDash val="dash"/>
          </a:ln>
        </p:spPr>
      </p:sp>
      <p:sp>
        <p:nvSpPr>
          <p:cNvPr id="26" name="Shape 24"/>
          <p:cNvSpPr/>
          <p:nvPr/>
        </p:nvSpPr>
        <p:spPr>
          <a:xfrm>
            <a:off x="3657600" y="2907792"/>
            <a:ext cx="0" cy="100584"/>
          </a:xfrm>
          <a:prstGeom prst="line">
            <a:avLst/>
          </a:prstGeom>
          <a:noFill/>
          <a:ln w="15875">
            <a:solidFill>
              <a:srgbClr val="8A99AD"/>
            </a:solidFill>
            <a:prstDash val="dash"/>
            <a:tailEnd type="triangle"/>
          </a:ln>
        </p:spPr>
      </p:sp>
      <p:sp>
        <p:nvSpPr>
          <p:cNvPr id="27" name="Shape 25"/>
          <p:cNvSpPr/>
          <p:nvPr/>
        </p:nvSpPr>
        <p:spPr>
          <a:xfrm>
            <a:off x="365760" y="3108960"/>
            <a:ext cx="1371600" cy="932688"/>
          </a:xfrm>
          <a:prstGeom prst="roundRect">
            <a:avLst>
              <a:gd name="adj" fmla="val 4902"/>
            </a:avLst>
          </a:prstGeom>
          <a:solidFill>
            <a:srgbClr val="FFFFFF"/>
          </a:solidFill>
          <a:ln w="15875">
            <a:solidFill>
              <a:srgbClr val="2E8B57"/>
            </a:solidFill>
            <a:prstDash val="solid"/>
          </a:ln>
        </p:spPr>
      </p:sp>
      <p:sp>
        <p:nvSpPr>
          <p:cNvPr id="28" name="Text 26"/>
          <p:cNvSpPr/>
          <p:nvPr/>
        </p:nvSpPr>
        <p:spPr>
          <a:xfrm>
            <a:off x="42976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2E8B57"/>
                </a:solidFill>
                <a:latin typeface="Calibri" pitchFamily="34" charset="0"/>
                <a:ea typeface="Calibri" pitchFamily="34" charset="-122"/>
                <a:cs typeface="Calibri" pitchFamily="34" charset="-120"/>
              </a:rPr>
              <a:t>8. RAG Pipeline</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Reads documents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Ingest, OCR, chunk</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Validate &amp; index</a:t>
            </a:r>
            <a:endParaRPr lang="en-US" sz="980" dirty="0"/>
          </a:p>
        </p:txBody>
      </p:sp>
      <p:sp>
        <p:nvSpPr>
          <p:cNvPr id="29" name="Shape 27"/>
          <p:cNvSpPr/>
          <p:nvPr/>
        </p:nvSpPr>
        <p:spPr>
          <a:xfrm>
            <a:off x="1051560" y="3008376"/>
            <a:ext cx="0" cy="100584"/>
          </a:xfrm>
          <a:prstGeom prst="line">
            <a:avLst/>
          </a:prstGeom>
          <a:noFill/>
          <a:ln w="15875">
            <a:solidFill>
              <a:srgbClr val="8A99AD"/>
            </a:solidFill>
            <a:prstDash val="dash"/>
            <a:tailEnd type="triangle"/>
          </a:ln>
        </p:spPr>
      </p:sp>
      <p:sp>
        <p:nvSpPr>
          <p:cNvPr id="30" name="Shape 28"/>
          <p:cNvSpPr/>
          <p:nvPr/>
        </p:nvSpPr>
        <p:spPr>
          <a:xfrm>
            <a:off x="1828800" y="3108960"/>
            <a:ext cx="1371600" cy="932688"/>
          </a:xfrm>
          <a:prstGeom prst="roundRect">
            <a:avLst>
              <a:gd name="adj" fmla="val 4902"/>
            </a:avLst>
          </a:prstGeom>
          <a:solidFill>
            <a:srgbClr val="FFFFFF"/>
          </a:solidFill>
          <a:ln w="15875">
            <a:solidFill>
              <a:srgbClr val="2E8B57"/>
            </a:solidFill>
            <a:prstDash val="solid"/>
          </a:ln>
        </p:spPr>
      </p:sp>
      <p:sp>
        <p:nvSpPr>
          <p:cNvPr id="31" name="Text 29"/>
          <p:cNvSpPr/>
          <p:nvPr/>
        </p:nvSpPr>
        <p:spPr>
          <a:xfrm>
            <a:off x="189280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2E8B57"/>
                </a:solidFill>
                <a:latin typeface="Calibri" pitchFamily="34" charset="0"/>
                <a:ea typeface="Calibri" pitchFamily="34" charset="-122"/>
                <a:cs typeface="Calibri" pitchFamily="34" charset="-120"/>
              </a:rPr>
              <a:t>9. Embedding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Text → meaning</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OpenAI embeddings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Self-hosted options</a:t>
            </a:r>
            <a:endParaRPr lang="en-US" sz="980" dirty="0"/>
          </a:p>
        </p:txBody>
      </p:sp>
      <p:sp>
        <p:nvSpPr>
          <p:cNvPr id="32" name="Shape 30"/>
          <p:cNvSpPr/>
          <p:nvPr/>
        </p:nvSpPr>
        <p:spPr>
          <a:xfrm>
            <a:off x="2514600" y="3008376"/>
            <a:ext cx="0" cy="100584"/>
          </a:xfrm>
          <a:prstGeom prst="line">
            <a:avLst/>
          </a:prstGeom>
          <a:noFill/>
          <a:ln w="15875">
            <a:solidFill>
              <a:srgbClr val="8A99AD"/>
            </a:solidFill>
            <a:prstDash val="dash"/>
            <a:tailEnd type="triangle"/>
          </a:ln>
        </p:spPr>
      </p:sp>
      <p:sp>
        <p:nvSpPr>
          <p:cNvPr id="33" name="Shape 31"/>
          <p:cNvSpPr/>
          <p:nvPr/>
        </p:nvSpPr>
        <p:spPr>
          <a:xfrm>
            <a:off x="3291840" y="3108960"/>
            <a:ext cx="1371600" cy="932688"/>
          </a:xfrm>
          <a:prstGeom prst="roundRect">
            <a:avLst>
              <a:gd name="adj" fmla="val 4902"/>
            </a:avLst>
          </a:prstGeom>
          <a:solidFill>
            <a:srgbClr val="FFFFFF"/>
          </a:solidFill>
          <a:ln w="15875">
            <a:solidFill>
              <a:srgbClr val="2E8B57"/>
            </a:solidFill>
            <a:prstDash val="solid"/>
          </a:ln>
        </p:spPr>
      </p:sp>
      <p:sp>
        <p:nvSpPr>
          <p:cNvPr id="34" name="Text 32"/>
          <p:cNvSpPr/>
          <p:nvPr/>
        </p:nvSpPr>
        <p:spPr>
          <a:xfrm>
            <a:off x="335584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2E8B57"/>
                </a:solidFill>
                <a:latin typeface="Calibri" pitchFamily="34" charset="0"/>
                <a:ea typeface="Calibri" pitchFamily="34" charset="-122"/>
                <a:cs typeface="Calibri" pitchFamily="34" charset="-120"/>
              </a:rPr>
              <a:t>10. Vector &amp; Search</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Finds relevant facts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Azure AI Search</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Keyword + meaning</a:t>
            </a:r>
            <a:endParaRPr lang="en-US" sz="980" dirty="0"/>
          </a:p>
        </p:txBody>
      </p:sp>
      <p:sp>
        <p:nvSpPr>
          <p:cNvPr id="35" name="Shape 33"/>
          <p:cNvSpPr/>
          <p:nvPr/>
        </p:nvSpPr>
        <p:spPr>
          <a:xfrm>
            <a:off x="3977640" y="3008376"/>
            <a:ext cx="0" cy="100584"/>
          </a:xfrm>
          <a:prstGeom prst="line">
            <a:avLst/>
          </a:prstGeom>
          <a:noFill/>
          <a:ln w="15875">
            <a:solidFill>
              <a:srgbClr val="8A99AD"/>
            </a:solidFill>
            <a:prstDash val="dash"/>
            <a:tailEnd type="triangle"/>
          </a:ln>
        </p:spPr>
      </p:sp>
      <p:sp>
        <p:nvSpPr>
          <p:cNvPr id="36" name="Shape 34"/>
          <p:cNvSpPr/>
          <p:nvPr/>
        </p:nvSpPr>
        <p:spPr>
          <a:xfrm>
            <a:off x="4754880" y="3108960"/>
            <a:ext cx="1371600" cy="932688"/>
          </a:xfrm>
          <a:prstGeom prst="roundRect">
            <a:avLst>
              <a:gd name="adj" fmla="val 4902"/>
            </a:avLst>
          </a:prstGeom>
          <a:solidFill>
            <a:srgbClr val="FFFFFF"/>
          </a:solidFill>
          <a:ln w="15875">
            <a:solidFill>
              <a:srgbClr val="2E8B57"/>
            </a:solidFill>
            <a:prstDash val="solid"/>
          </a:ln>
        </p:spPr>
      </p:sp>
      <p:sp>
        <p:nvSpPr>
          <p:cNvPr id="37" name="Text 35"/>
          <p:cNvSpPr/>
          <p:nvPr/>
        </p:nvSpPr>
        <p:spPr>
          <a:xfrm>
            <a:off x="481888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2E8B57"/>
                </a:solidFill>
                <a:latin typeface="Calibri" pitchFamily="34" charset="0"/>
                <a:ea typeface="Calibri" pitchFamily="34" charset="-122"/>
                <a:cs typeface="Calibri" pitchFamily="34" charset="-120"/>
              </a:rPr>
              <a:t>11. Knowledge Graph</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Connects the dots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Equipment, parts, suppliers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GraphRAG · Cosmos DB</a:t>
            </a:r>
            <a:endParaRPr lang="en-US" sz="980" dirty="0"/>
          </a:p>
        </p:txBody>
      </p:sp>
      <p:sp>
        <p:nvSpPr>
          <p:cNvPr id="38" name="Shape 36"/>
          <p:cNvSpPr/>
          <p:nvPr/>
        </p:nvSpPr>
        <p:spPr>
          <a:xfrm>
            <a:off x="5440680" y="3008376"/>
            <a:ext cx="0" cy="100584"/>
          </a:xfrm>
          <a:prstGeom prst="line">
            <a:avLst/>
          </a:prstGeom>
          <a:noFill/>
          <a:ln w="15875">
            <a:solidFill>
              <a:srgbClr val="8A99AD"/>
            </a:solidFill>
            <a:prstDash val="dash"/>
            <a:tailEnd type="triangle"/>
          </a:ln>
        </p:spPr>
      </p:sp>
      <p:sp>
        <p:nvSpPr>
          <p:cNvPr id="39" name="Shape 37"/>
          <p:cNvSpPr/>
          <p:nvPr/>
        </p:nvSpPr>
        <p:spPr>
          <a:xfrm>
            <a:off x="6217920" y="3108960"/>
            <a:ext cx="1371600" cy="932688"/>
          </a:xfrm>
          <a:prstGeom prst="roundRect">
            <a:avLst>
              <a:gd name="adj" fmla="val 4902"/>
            </a:avLst>
          </a:prstGeom>
          <a:solidFill>
            <a:srgbClr val="FFFFFF"/>
          </a:solidFill>
          <a:ln w="15875">
            <a:solidFill>
              <a:srgbClr val="2F6FB0"/>
            </a:solidFill>
            <a:prstDash val="solid"/>
          </a:ln>
        </p:spPr>
      </p:sp>
      <p:sp>
        <p:nvSpPr>
          <p:cNvPr id="40" name="Text 38"/>
          <p:cNvSpPr/>
          <p:nvPr/>
        </p:nvSpPr>
        <p:spPr>
          <a:xfrm>
            <a:off x="628192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2F6FB0"/>
                </a:solidFill>
                <a:latin typeface="Calibri" pitchFamily="34" charset="0"/>
                <a:ea typeface="Calibri" pitchFamily="34" charset="-122"/>
                <a:cs typeface="Calibri" pitchFamily="34" charset="-120"/>
              </a:rPr>
              <a:t>12. Tool &amp; MCP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Reaches Ball systems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SAP · AVEVA PI · MES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SharePoint · SQL</a:t>
            </a:r>
            <a:endParaRPr lang="en-US" sz="980" dirty="0"/>
          </a:p>
        </p:txBody>
      </p:sp>
      <p:sp>
        <p:nvSpPr>
          <p:cNvPr id="41" name="Shape 39"/>
          <p:cNvSpPr/>
          <p:nvPr/>
        </p:nvSpPr>
        <p:spPr>
          <a:xfrm>
            <a:off x="6903720" y="3008376"/>
            <a:ext cx="0" cy="100584"/>
          </a:xfrm>
          <a:prstGeom prst="line">
            <a:avLst/>
          </a:prstGeom>
          <a:noFill/>
          <a:ln w="15875">
            <a:solidFill>
              <a:srgbClr val="8A99AD"/>
            </a:solidFill>
            <a:prstDash val="dash"/>
            <a:tailEnd type="triangle"/>
          </a:ln>
        </p:spPr>
      </p:sp>
      <p:sp>
        <p:nvSpPr>
          <p:cNvPr id="42" name="Shape 40"/>
          <p:cNvSpPr/>
          <p:nvPr/>
        </p:nvSpPr>
        <p:spPr>
          <a:xfrm>
            <a:off x="7680960" y="3108960"/>
            <a:ext cx="1371600" cy="932688"/>
          </a:xfrm>
          <a:prstGeom prst="roundRect">
            <a:avLst>
              <a:gd name="adj" fmla="val 4902"/>
            </a:avLst>
          </a:prstGeom>
          <a:solidFill>
            <a:srgbClr val="FFFFFF"/>
          </a:solidFill>
          <a:ln w="15875">
            <a:solidFill>
              <a:srgbClr val="D98324"/>
            </a:solidFill>
            <a:prstDash val="solid"/>
          </a:ln>
        </p:spPr>
      </p:sp>
      <p:sp>
        <p:nvSpPr>
          <p:cNvPr id="43" name="Text 41"/>
          <p:cNvSpPr/>
          <p:nvPr/>
        </p:nvSpPr>
        <p:spPr>
          <a:xfrm>
            <a:off x="774496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D98324"/>
                </a:solidFill>
                <a:latin typeface="Calibri" pitchFamily="34" charset="0"/>
                <a:ea typeface="Calibri" pitchFamily="34" charset="-122"/>
                <a:cs typeface="Calibri" pitchFamily="34" charset="-120"/>
              </a:rPr>
              <a:t>13. Cache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Faster, cheaper</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Semantic &amp; response cache</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Azure Cache for Redis</a:t>
            </a:r>
            <a:endParaRPr lang="en-US" sz="980" dirty="0"/>
          </a:p>
        </p:txBody>
      </p:sp>
      <p:sp>
        <p:nvSpPr>
          <p:cNvPr id="44" name="Shape 42"/>
          <p:cNvSpPr/>
          <p:nvPr/>
        </p:nvSpPr>
        <p:spPr>
          <a:xfrm>
            <a:off x="8366760" y="3008376"/>
            <a:ext cx="0" cy="100584"/>
          </a:xfrm>
          <a:prstGeom prst="line">
            <a:avLst/>
          </a:prstGeom>
          <a:noFill/>
          <a:ln w="15875">
            <a:solidFill>
              <a:srgbClr val="8A99AD"/>
            </a:solidFill>
            <a:prstDash val="dash"/>
            <a:tailEnd type="triangle"/>
          </a:ln>
        </p:spPr>
      </p:sp>
      <p:sp>
        <p:nvSpPr>
          <p:cNvPr id="45" name="Shape 43"/>
          <p:cNvSpPr/>
          <p:nvPr/>
        </p:nvSpPr>
        <p:spPr>
          <a:xfrm>
            <a:off x="9144000" y="3108960"/>
            <a:ext cx="1371600" cy="932688"/>
          </a:xfrm>
          <a:prstGeom prst="roundRect">
            <a:avLst>
              <a:gd name="adj" fmla="val 4902"/>
            </a:avLst>
          </a:prstGeom>
          <a:solidFill>
            <a:srgbClr val="FFFFFF"/>
          </a:solidFill>
          <a:ln w="15875">
            <a:solidFill>
              <a:srgbClr val="D98324"/>
            </a:solidFill>
            <a:prstDash val="solid"/>
          </a:ln>
        </p:spPr>
      </p:sp>
      <p:sp>
        <p:nvSpPr>
          <p:cNvPr id="46" name="Text 44"/>
          <p:cNvSpPr/>
          <p:nvPr/>
        </p:nvSpPr>
        <p:spPr>
          <a:xfrm>
            <a:off x="9208008" y="315468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D98324"/>
                </a:solidFill>
                <a:latin typeface="Calibri" pitchFamily="34" charset="0"/>
                <a:ea typeface="Calibri" pitchFamily="34" charset="-122"/>
                <a:cs typeface="Calibri" pitchFamily="34" charset="-120"/>
              </a:rPr>
              <a:t>14. Queue &amp; Event Bus</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Background work</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Service Bus · Event Hubs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Event Grid · Logic Apps</a:t>
            </a:r>
            <a:endParaRPr lang="en-US" sz="980" dirty="0"/>
          </a:p>
        </p:txBody>
      </p:sp>
      <p:sp>
        <p:nvSpPr>
          <p:cNvPr id="47" name="Shape 45"/>
          <p:cNvSpPr/>
          <p:nvPr/>
        </p:nvSpPr>
        <p:spPr>
          <a:xfrm>
            <a:off x="9829800" y="3008376"/>
            <a:ext cx="0" cy="100584"/>
          </a:xfrm>
          <a:prstGeom prst="line">
            <a:avLst/>
          </a:prstGeom>
          <a:noFill/>
          <a:ln w="15875">
            <a:solidFill>
              <a:srgbClr val="8A99AD"/>
            </a:solidFill>
            <a:prstDash val="dash"/>
            <a:tailEnd type="triangle"/>
          </a:ln>
        </p:spPr>
      </p:sp>
      <p:sp>
        <p:nvSpPr>
          <p:cNvPr id="48" name="Shape 46"/>
          <p:cNvSpPr/>
          <p:nvPr/>
        </p:nvSpPr>
        <p:spPr>
          <a:xfrm>
            <a:off x="1051560" y="4123944"/>
            <a:ext cx="8778240" cy="0"/>
          </a:xfrm>
          <a:prstGeom prst="line">
            <a:avLst/>
          </a:prstGeom>
          <a:noFill/>
          <a:ln w="15875">
            <a:solidFill>
              <a:srgbClr val="8A99AD"/>
            </a:solidFill>
            <a:prstDash val="dash"/>
          </a:ln>
        </p:spPr>
      </p:sp>
      <p:sp>
        <p:nvSpPr>
          <p:cNvPr id="49" name="Shape 47"/>
          <p:cNvSpPr/>
          <p:nvPr/>
        </p:nvSpPr>
        <p:spPr>
          <a:xfrm>
            <a:off x="365760" y="4206240"/>
            <a:ext cx="1371600" cy="932688"/>
          </a:xfrm>
          <a:prstGeom prst="roundRect">
            <a:avLst>
              <a:gd name="adj" fmla="val 4902"/>
            </a:avLst>
          </a:prstGeom>
          <a:solidFill>
            <a:srgbClr val="FFFFFF"/>
          </a:solidFill>
          <a:ln w="15875">
            <a:solidFill>
              <a:srgbClr val="1F3864"/>
            </a:solidFill>
            <a:prstDash val="solid"/>
          </a:ln>
        </p:spPr>
      </p:sp>
      <p:sp>
        <p:nvSpPr>
          <p:cNvPr id="50" name="Text 48"/>
          <p:cNvSpPr/>
          <p:nvPr/>
        </p:nvSpPr>
        <p:spPr>
          <a:xfrm>
            <a:off x="42976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15. Data Layer</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Operational data</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Azure SQL · PostgreSQL</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Microsoft Fabric</a:t>
            </a:r>
            <a:endParaRPr lang="en-US" sz="980" dirty="0"/>
          </a:p>
        </p:txBody>
      </p:sp>
      <p:sp>
        <p:nvSpPr>
          <p:cNvPr id="51" name="Shape 49"/>
          <p:cNvSpPr/>
          <p:nvPr/>
        </p:nvSpPr>
        <p:spPr>
          <a:xfrm>
            <a:off x="1051560" y="4123944"/>
            <a:ext cx="0" cy="82296"/>
          </a:xfrm>
          <a:prstGeom prst="line">
            <a:avLst/>
          </a:prstGeom>
          <a:noFill/>
          <a:ln w="15875">
            <a:solidFill>
              <a:srgbClr val="8A99AD"/>
            </a:solidFill>
            <a:prstDash val="dash"/>
            <a:tailEnd type="triangle"/>
          </a:ln>
        </p:spPr>
      </p:sp>
      <p:sp>
        <p:nvSpPr>
          <p:cNvPr id="52" name="Shape 50"/>
          <p:cNvSpPr/>
          <p:nvPr/>
        </p:nvSpPr>
        <p:spPr>
          <a:xfrm>
            <a:off x="1828800" y="4206240"/>
            <a:ext cx="1371600" cy="932688"/>
          </a:xfrm>
          <a:prstGeom prst="roundRect">
            <a:avLst>
              <a:gd name="adj" fmla="val 4902"/>
            </a:avLst>
          </a:prstGeom>
          <a:solidFill>
            <a:srgbClr val="FFFFFF"/>
          </a:solidFill>
          <a:ln w="15875">
            <a:solidFill>
              <a:srgbClr val="1F3864"/>
            </a:solidFill>
            <a:prstDash val="solid"/>
          </a:ln>
        </p:spPr>
      </p:sp>
      <p:sp>
        <p:nvSpPr>
          <p:cNvPr id="53" name="Text 51"/>
          <p:cNvSpPr/>
          <p:nvPr/>
        </p:nvSpPr>
        <p:spPr>
          <a:xfrm>
            <a:off x="189280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16. Object Storage</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Files &amp; media</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Specs, defect photos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Blob · ADLS Gen2</a:t>
            </a:r>
            <a:endParaRPr lang="en-US" sz="980" dirty="0"/>
          </a:p>
        </p:txBody>
      </p:sp>
      <p:sp>
        <p:nvSpPr>
          <p:cNvPr id="54" name="Shape 52"/>
          <p:cNvSpPr/>
          <p:nvPr/>
        </p:nvSpPr>
        <p:spPr>
          <a:xfrm>
            <a:off x="2514600" y="4123944"/>
            <a:ext cx="0" cy="82296"/>
          </a:xfrm>
          <a:prstGeom prst="line">
            <a:avLst/>
          </a:prstGeom>
          <a:noFill/>
          <a:ln w="15875">
            <a:solidFill>
              <a:srgbClr val="8A99AD"/>
            </a:solidFill>
            <a:prstDash val="dash"/>
            <a:tailEnd type="triangle"/>
          </a:ln>
        </p:spPr>
      </p:sp>
      <p:sp>
        <p:nvSpPr>
          <p:cNvPr id="55" name="Shape 53"/>
          <p:cNvSpPr/>
          <p:nvPr/>
        </p:nvSpPr>
        <p:spPr>
          <a:xfrm>
            <a:off x="3291840" y="4206240"/>
            <a:ext cx="1371600" cy="932688"/>
          </a:xfrm>
          <a:prstGeom prst="roundRect">
            <a:avLst>
              <a:gd name="adj" fmla="val 4902"/>
            </a:avLst>
          </a:prstGeom>
          <a:solidFill>
            <a:srgbClr val="FFFFFF"/>
          </a:solidFill>
          <a:ln w="15875">
            <a:solidFill>
              <a:srgbClr val="1F3864"/>
            </a:solidFill>
            <a:prstDash val="solid"/>
          </a:ln>
        </p:spPr>
      </p:sp>
      <p:sp>
        <p:nvSpPr>
          <p:cNvPr id="56" name="Text 54"/>
          <p:cNvSpPr/>
          <p:nvPr/>
        </p:nvSpPr>
        <p:spPr>
          <a:xfrm>
            <a:off x="335584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17. Prompt Mgmt</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Approved prompts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Templates &amp; versions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A/B testing</a:t>
            </a:r>
            <a:endParaRPr lang="en-US" sz="980" dirty="0"/>
          </a:p>
        </p:txBody>
      </p:sp>
      <p:sp>
        <p:nvSpPr>
          <p:cNvPr id="57" name="Shape 55"/>
          <p:cNvSpPr/>
          <p:nvPr/>
        </p:nvSpPr>
        <p:spPr>
          <a:xfrm>
            <a:off x="3977640" y="4123944"/>
            <a:ext cx="0" cy="82296"/>
          </a:xfrm>
          <a:prstGeom prst="line">
            <a:avLst/>
          </a:prstGeom>
          <a:noFill/>
          <a:ln w="15875">
            <a:solidFill>
              <a:srgbClr val="8A99AD"/>
            </a:solidFill>
            <a:prstDash val="dash"/>
            <a:tailEnd type="triangle"/>
          </a:ln>
        </p:spPr>
      </p:sp>
      <p:sp>
        <p:nvSpPr>
          <p:cNvPr id="58" name="Shape 56"/>
          <p:cNvSpPr/>
          <p:nvPr/>
        </p:nvSpPr>
        <p:spPr>
          <a:xfrm>
            <a:off x="4754880" y="4206240"/>
            <a:ext cx="1371600" cy="932688"/>
          </a:xfrm>
          <a:prstGeom prst="roundRect">
            <a:avLst>
              <a:gd name="adj" fmla="val 4902"/>
            </a:avLst>
          </a:prstGeom>
          <a:solidFill>
            <a:srgbClr val="FFFFFF"/>
          </a:solidFill>
          <a:ln w="15875">
            <a:solidFill>
              <a:srgbClr val="1F3864"/>
            </a:solidFill>
            <a:prstDash val="solid"/>
          </a:ln>
        </p:spPr>
      </p:sp>
      <p:sp>
        <p:nvSpPr>
          <p:cNvPr id="59" name="Text 57"/>
          <p:cNvSpPr/>
          <p:nvPr/>
        </p:nvSpPr>
        <p:spPr>
          <a:xfrm>
            <a:off x="481888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18. Evaluation</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Checks answers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Accuracy &amp; groundedness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Hallucination checks</a:t>
            </a:r>
            <a:endParaRPr lang="en-US" sz="980" dirty="0"/>
          </a:p>
        </p:txBody>
      </p:sp>
      <p:sp>
        <p:nvSpPr>
          <p:cNvPr id="60" name="Shape 58"/>
          <p:cNvSpPr/>
          <p:nvPr/>
        </p:nvSpPr>
        <p:spPr>
          <a:xfrm>
            <a:off x="5440680" y="4123944"/>
            <a:ext cx="0" cy="82296"/>
          </a:xfrm>
          <a:prstGeom prst="line">
            <a:avLst/>
          </a:prstGeom>
          <a:noFill/>
          <a:ln w="15875">
            <a:solidFill>
              <a:srgbClr val="8A99AD"/>
            </a:solidFill>
            <a:prstDash val="dash"/>
            <a:tailEnd type="triangle"/>
          </a:ln>
        </p:spPr>
      </p:sp>
      <p:sp>
        <p:nvSpPr>
          <p:cNvPr id="61" name="Shape 59"/>
          <p:cNvSpPr/>
          <p:nvPr/>
        </p:nvSpPr>
        <p:spPr>
          <a:xfrm>
            <a:off x="6217920" y="4206240"/>
            <a:ext cx="1371600" cy="932688"/>
          </a:xfrm>
          <a:prstGeom prst="roundRect">
            <a:avLst>
              <a:gd name="adj" fmla="val 4902"/>
            </a:avLst>
          </a:prstGeom>
          <a:solidFill>
            <a:srgbClr val="FFFFFF"/>
          </a:solidFill>
          <a:ln w="15875">
            <a:solidFill>
              <a:srgbClr val="1F3864"/>
            </a:solidFill>
            <a:prstDash val="solid"/>
          </a:ln>
        </p:spPr>
      </p:sp>
      <p:sp>
        <p:nvSpPr>
          <p:cNvPr id="62" name="Text 60"/>
          <p:cNvSpPr/>
          <p:nvPr/>
        </p:nvSpPr>
        <p:spPr>
          <a:xfrm>
            <a:off x="628192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19. Human-in-the-Loop</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People approve</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Review &amp; approve</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Escalate &amp; feedback</a:t>
            </a:r>
            <a:endParaRPr lang="en-US" sz="980" dirty="0"/>
          </a:p>
        </p:txBody>
      </p:sp>
      <p:sp>
        <p:nvSpPr>
          <p:cNvPr id="63" name="Shape 61"/>
          <p:cNvSpPr/>
          <p:nvPr/>
        </p:nvSpPr>
        <p:spPr>
          <a:xfrm>
            <a:off x="6903720" y="4123944"/>
            <a:ext cx="0" cy="82296"/>
          </a:xfrm>
          <a:prstGeom prst="line">
            <a:avLst/>
          </a:prstGeom>
          <a:noFill/>
          <a:ln w="15875">
            <a:solidFill>
              <a:srgbClr val="8A99AD"/>
            </a:solidFill>
            <a:prstDash val="dash"/>
            <a:tailEnd type="triangle"/>
          </a:ln>
        </p:spPr>
      </p:sp>
      <p:sp>
        <p:nvSpPr>
          <p:cNvPr id="64" name="Shape 62"/>
          <p:cNvSpPr/>
          <p:nvPr/>
        </p:nvSpPr>
        <p:spPr>
          <a:xfrm>
            <a:off x="7680960" y="4206240"/>
            <a:ext cx="1371600" cy="932688"/>
          </a:xfrm>
          <a:prstGeom prst="roundRect">
            <a:avLst>
              <a:gd name="adj" fmla="val 4902"/>
            </a:avLst>
          </a:prstGeom>
          <a:solidFill>
            <a:srgbClr val="FFFFFF"/>
          </a:solidFill>
          <a:ln w="15875">
            <a:solidFill>
              <a:srgbClr val="1F3864"/>
            </a:solidFill>
            <a:prstDash val="solid"/>
          </a:ln>
        </p:spPr>
      </p:sp>
      <p:sp>
        <p:nvSpPr>
          <p:cNvPr id="65" name="Text 63"/>
          <p:cNvSpPr/>
          <p:nvPr/>
        </p:nvSpPr>
        <p:spPr>
          <a:xfrm>
            <a:off x="774496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20. Cost &amp; Usage</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Tracks AI spend</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Cost by plant &amp; team</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Budget alerts</a:t>
            </a:r>
            <a:endParaRPr lang="en-US" sz="980" dirty="0"/>
          </a:p>
        </p:txBody>
      </p:sp>
      <p:sp>
        <p:nvSpPr>
          <p:cNvPr id="66" name="Shape 64"/>
          <p:cNvSpPr/>
          <p:nvPr/>
        </p:nvSpPr>
        <p:spPr>
          <a:xfrm>
            <a:off x="8366760" y="4123944"/>
            <a:ext cx="0" cy="82296"/>
          </a:xfrm>
          <a:prstGeom prst="line">
            <a:avLst/>
          </a:prstGeom>
          <a:noFill/>
          <a:ln w="15875">
            <a:solidFill>
              <a:srgbClr val="8A99AD"/>
            </a:solidFill>
            <a:prstDash val="dash"/>
            <a:tailEnd type="triangle"/>
          </a:ln>
        </p:spPr>
      </p:sp>
      <p:sp>
        <p:nvSpPr>
          <p:cNvPr id="67" name="Shape 65"/>
          <p:cNvSpPr/>
          <p:nvPr/>
        </p:nvSpPr>
        <p:spPr>
          <a:xfrm>
            <a:off x="9144000" y="4206240"/>
            <a:ext cx="1371600" cy="932688"/>
          </a:xfrm>
          <a:prstGeom prst="roundRect">
            <a:avLst>
              <a:gd name="adj" fmla="val 4902"/>
            </a:avLst>
          </a:prstGeom>
          <a:solidFill>
            <a:srgbClr val="FFFFFF"/>
          </a:solidFill>
          <a:ln w="15875">
            <a:solidFill>
              <a:srgbClr val="1F3864"/>
            </a:solidFill>
            <a:prstDash val="solid"/>
          </a:ln>
        </p:spPr>
      </p:sp>
      <p:sp>
        <p:nvSpPr>
          <p:cNvPr id="68" name="Text 66"/>
          <p:cNvSpPr/>
          <p:nvPr/>
        </p:nvSpPr>
        <p:spPr>
          <a:xfrm>
            <a:off x="9208008" y="4251960"/>
            <a:ext cx="1261872" cy="859536"/>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21. Observability</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Health &amp; alerts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Tracing &amp; logs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Dashboards &amp; alerts</a:t>
            </a:r>
            <a:endParaRPr lang="en-US" sz="980" dirty="0"/>
          </a:p>
        </p:txBody>
      </p:sp>
      <p:sp>
        <p:nvSpPr>
          <p:cNvPr id="69" name="Shape 67"/>
          <p:cNvSpPr/>
          <p:nvPr/>
        </p:nvSpPr>
        <p:spPr>
          <a:xfrm>
            <a:off x="9829800" y="4123944"/>
            <a:ext cx="0" cy="82296"/>
          </a:xfrm>
          <a:prstGeom prst="line">
            <a:avLst/>
          </a:prstGeom>
          <a:noFill/>
          <a:ln w="15875">
            <a:solidFill>
              <a:srgbClr val="8A99AD"/>
            </a:solidFill>
            <a:prstDash val="dash"/>
            <a:tailEnd type="triangle"/>
          </a:ln>
        </p:spPr>
      </p:sp>
      <p:sp>
        <p:nvSpPr>
          <p:cNvPr id="70" name="Shape 68"/>
          <p:cNvSpPr/>
          <p:nvPr/>
        </p:nvSpPr>
        <p:spPr>
          <a:xfrm>
            <a:off x="10634472" y="841248"/>
            <a:ext cx="1188720" cy="4297680"/>
          </a:xfrm>
          <a:prstGeom prst="roundRect">
            <a:avLst>
              <a:gd name="adj" fmla="val 3846"/>
            </a:avLst>
          </a:prstGeom>
          <a:solidFill>
            <a:srgbClr val="FDF3F2"/>
          </a:solidFill>
          <a:ln w="15875">
            <a:solidFill>
              <a:srgbClr val="C0504D"/>
            </a:solidFill>
            <a:prstDash val="solid"/>
          </a:ln>
        </p:spPr>
      </p:sp>
      <p:sp>
        <p:nvSpPr>
          <p:cNvPr id="71" name="Text 69"/>
          <p:cNvSpPr/>
          <p:nvPr/>
        </p:nvSpPr>
        <p:spPr>
          <a:xfrm>
            <a:off x="10698480" y="886968"/>
            <a:ext cx="1078992" cy="4224528"/>
          </a:xfrm>
          <a:prstGeom prst="rect">
            <a:avLst/>
          </a:prstGeom>
          <a:noFill/>
          <a:ln/>
        </p:spPr>
        <p:txBody>
          <a:bodyPr wrap="square" lIns="0" tIns="0" rIns="0" bIns="0" rtlCol="0" anchor="t"/>
          <a:lstStyle/>
          <a:p>
            <a:pPr marL="0" indent="0" algn="l">
              <a:spcAft>
                <a:spcPts val="100"/>
              </a:spcAft>
              <a:buNone/>
            </a:pPr>
            <a:r>
              <a:rPr lang="en-US" sz="950" b="1" dirty="0">
                <a:solidFill>
                  <a:srgbClr val="C0504D"/>
                </a:solidFill>
                <a:latin typeface="Calibri" pitchFamily="34" charset="0"/>
                <a:ea typeface="Calibri" pitchFamily="34" charset="-122"/>
                <a:cs typeface="Calibri" pitchFamily="34" charset="-120"/>
              </a:rPr>
              <a:t>22. Security &amp; Governance</a:t>
            </a:r>
            <a:endParaRPr lang="en-US" sz="950" dirty="0"/>
          </a:p>
          <a:p>
            <a:pPr marL="0" indent="0" algn="l">
              <a:spcAft>
                <a:spcPts val="100"/>
              </a:spcAft>
              <a:buNone/>
            </a:pPr>
            <a:r>
              <a:rPr lang="en-US" sz="830" i="1" dirty="0">
                <a:solidFill>
                  <a:srgbClr val="5A6B82"/>
                </a:solidFill>
                <a:latin typeface="Calibri" pitchFamily="34" charset="0"/>
                <a:ea typeface="Calibri" pitchFamily="34" charset="-122"/>
                <a:cs typeface="Calibri" pitchFamily="34" charset="-120"/>
              </a:rPr>
              <a:t>Applies to every layer</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Key Vault &amp; encryption</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PII protection (Purview)</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Prompt shields &amp; content safety</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Rate limiting &amp; abuse prevention</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Audit logs &amp; data lineage</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Azure Policy &amp; Defender</a:t>
            </a:r>
            <a:endParaRPr lang="en-US" sz="950" dirty="0"/>
          </a:p>
          <a:p>
            <a:pPr marL="101600" indent="-101600" algn="l">
              <a:spcAft>
                <a:spcPts val="100"/>
              </a:spcAft>
              <a:buSzPct val="100000"/>
              <a:buChar char="•"/>
            </a:pPr>
            <a:r>
              <a:rPr lang="en-US" sz="830" dirty="0">
                <a:solidFill>
                  <a:srgbClr val="1A202C"/>
                </a:solidFill>
                <a:latin typeface="Calibri" pitchFamily="34" charset="0"/>
                <a:ea typeface="Calibri" pitchFamily="34" charset="-122"/>
                <a:cs typeface="Calibri" pitchFamily="34" charset="-120"/>
              </a:rPr>
              <a:t>Compliance: SOX, SOC 2, ISO</a:t>
            </a:r>
            <a:endParaRPr lang="en-US" sz="950" dirty="0"/>
          </a:p>
        </p:txBody>
      </p:sp>
      <p:sp>
        <p:nvSpPr>
          <p:cNvPr id="72" name="Shape 70"/>
          <p:cNvSpPr/>
          <p:nvPr/>
        </p:nvSpPr>
        <p:spPr>
          <a:xfrm flipH="1">
            <a:off x="10524744" y="1353312"/>
            <a:ext cx="109728" cy="0"/>
          </a:xfrm>
          <a:prstGeom prst="line">
            <a:avLst/>
          </a:prstGeom>
          <a:noFill/>
          <a:ln w="15875">
            <a:solidFill>
              <a:srgbClr val="C0504D"/>
            </a:solidFill>
            <a:prstDash val="sysDot"/>
            <a:tailEnd type="triangle"/>
          </a:ln>
        </p:spPr>
      </p:sp>
      <p:sp>
        <p:nvSpPr>
          <p:cNvPr id="73" name="Shape 71"/>
          <p:cNvSpPr/>
          <p:nvPr/>
        </p:nvSpPr>
        <p:spPr>
          <a:xfrm flipH="1">
            <a:off x="10524744" y="2450592"/>
            <a:ext cx="109728" cy="0"/>
          </a:xfrm>
          <a:prstGeom prst="line">
            <a:avLst/>
          </a:prstGeom>
          <a:noFill/>
          <a:ln w="15875">
            <a:solidFill>
              <a:srgbClr val="C0504D"/>
            </a:solidFill>
            <a:prstDash val="sysDot"/>
            <a:tailEnd type="triangle"/>
          </a:ln>
        </p:spPr>
      </p:sp>
      <p:sp>
        <p:nvSpPr>
          <p:cNvPr id="74" name="Shape 72"/>
          <p:cNvSpPr/>
          <p:nvPr/>
        </p:nvSpPr>
        <p:spPr>
          <a:xfrm flipH="1">
            <a:off x="10524744" y="3575304"/>
            <a:ext cx="109728" cy="0"/>
          </a:xfrm>
          <a:prstGeom prst="line">
            <a:avLst/>
          </a:prstGeom>
          <a:noFill/>
          <a:ln w="15875">
            <a:solidFill>
              <a:srgbClr val="C0504D"/>
            </a:solidFill>
            <a:prstDash val="sysDot"/>
            <a:tailEnd type="triangle"/>
          </a:ln>
        </p:spPr>
      </p:sp>
      <p:sp>
        <p:nvSpPr>
          <p:cNvPr id="75" name="Shape 73"/>
          <p:cNvSpPr/>
          <p:nvPr/>
        </p:nvSpPr>
        <p:spPr>
          <a:xfrm flipH="1">
            <a:off x="10524744" y="4672584"/>
            <a:ext cx="109728" cy="0"/>
          </a:xfrm>
          <a:prstGeom prst="line">
            <a:avLst/>
          </a:prstGeom>
          <a:noFill/>
          <a:ln w="15875">
            <a:solidFill>
              <a:srgbClr val="C0504D"/>
            </a:solidFill>
            <a:prstDash val="sysDot"/>
            <a:tailEnd type="triangle"/>
          </a:ln>
        </p:spPr>
      </p:sp>
      <p:sp>
        <p:nvSpPr>
          <p:cNvPr id="76" name="Shape 74"/>
          <p:cNvSpPr/>
          <p:nvPr/>
        </p:nvSpPr>
        <p:spPr>
          <a:xfrm>
            <a:off x="365760" y="5257800"/>
            <a:ext cx="5669280" cy="658368"/>
          </a:xfrm>
          <a:prstGeom prst="roundRect">
            <a:avLst>
              <a:gd name="adj" fmla="val 6944"/>
            </a:avLst>
          </a:prstGeom>
          <a:solidFill>
            <a:srgbClr val="FFF8EE"/>
          </a:solidFill>
          <a:ln w="15875">
            <a:solidFill>
              <a:srgbClr val="D98324"/>
            </a:solidFill>
            <a:prstDash val="solid"/>
          </a:ln>
        </p:spPr>
      </p:sp>
      <p:sp>
        <p:nvSpPr>
          <p:cNvPr id="77" name="Text 75"/>
          <p:cNvSpPr/>
          <p:nvPr/>
        </p:nvSpPr>
        <p:spPr>
          <a:xfrm>
            <a:off x="429768" y="5303520"/>
            <a:ext cx="5559552" cy="585216"/>
          </a:xfrm>
          <a:prstGeom prst="rect">
            <a:avLst/>
          </a:prstGeom>
          <a:noFill/>
          <a:ln/>
        </p:spPr>
        <p:txBody>
          <a:bodyPr wrap="square" lIns="0" tIns="0" rIns="0" bIns="0" rtlCol="0" anchor="t"/>
          <a:lstStyle/>
          <a:p>
            <a:pPr marL="0" indent="0" algn="l">
              <a:spcAft>
                <a:spcPts val="100"/>
              </a:spcAft>
              <a:buNone/>
            </a:pPr>
            <a:r>
              <a:rPr lang="en-US" sz="980" b="1" dirty="0">
                <a:solidFill>
                  <a:srgbClr val="D98324"/>
                </a:solidFill>
                <a:latin typeface="Calibri" pitchFamily="34" charset="0"/>
                <a:ea typeface="Calibri" pitchFamily="34" charset="-122"/>
                <a:cs typeface="Calibri" pitchFamily="34" charset="-120"/>
              </a:rPr>
              <a:t>23. DevOps &amp; Deployment</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Ship changes safely</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Containers on AKS / Container Apps · CI/CD (Azure DevOps, GitHub Actions)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Infrastructure as code (Bicep, Terraform) · plant edge on Azure Local</a:t>
            </a:r>
            <a:endParaRPr lang="en-US" sz="980" dirty="0"/>
          </a:p>
        </p:txBody>
      </p:sp>
      <p:sp>
        <p:nvSpPr>
          <p:cNvPr id="78" name="Shape 76"/>
          <p:cNvSpPr/>
          <p:nvPr/>
        </p:nvSpPr>
        <p:spPr>
          <a:xfrm>
            <a:off x="6126480" y="5257800"/>
            <a:ext cx="5696712" cy="658368"/>
          </a:xfrm>
          <a:prstGeom prst="roundRect">
            <a:avLst>
              <a:gd name="adj" fmla="val 6944"/>
            </a:avLst>
          </a:prstGeom>
          <a:solidFill>
            <a:srgbClr val="FFFFFF"/>
          </a:solidFill>
          <a:ln w="15875">
            <a:solidFill>
              <a:srgbClr val="2F6FB0"/>
            </a:solidFill>
            <a:prstDash val="solid"/>
          </a:ln>
        </p:spPr>
      </p:sp>
      <p:sp>
        <p:nvSpPr>
          <p:cNvPr id="79" name="Text 77"/>
          <p:cNvSpPr/>
          <p:nvPr/>
        </p:nvSpPr>
        <p:spPr>
          <a:xfrm>
            <a:off x="6190488" y="5303520"/>
            <a:ext cx="5586984" cy="585216"/>
          </a:xfrm>
          <a:prstGeom prst="rect">
            <a:avLst/>
          </a:prstGeom>
          <a:noFill/>
          <a:ln/>
        </p:spPr>
        <p:txBody>
          <a:bodyPr wrap="square" lIns="0" tIns="0" rIns="0" bIns="0" rtlCol="0" anchor="t"/>
          <a:lstStyle/>
          <a:p>
            <a:pPr marL="0" indent="0" algn="l">
              <a:spcAft>
                <a:spcPts val="100"/>
              </a:spcAft>
              <a:buNone/>
            </a:pPr>
            <a:r>
              <a:rPr lang="en-US" sz="980" b="1" dirty="0">
                <a:solidFill>
                  <a:srgbClr val="2F6FB0"/>
                </a:solidFill>
                <a:latin typeface="Calibri" pitchFamily="34" charset="0"/>
                <a:ea typeface="Calibri" pitchFamily="34" charset="-122"/>
                <a:cs typeface="Calibri" pitchFamily="34" charset="-120"/>
              </a:rPr>
              <a:t>24. Backup &amp; Disaster Recovery</a:t>
            </a:r>
            <a:endParaRPr lang="en-US" sz="980" dirty="0"/>
          </a:p>
          <a:p>
            <a:pPr marL="0" indent="0" algn="l">
              <a:spcAft>
                <a:spcPts val="100"/>
              </a:spcAft>
              <a:buNone/>
            </a:pPr>
            <a:r>
              <a:rPr lang="en-US" sz="860" i="1" dirty="0">
                <a:solidFill>
                  <a:srgbClr val="5A6B82"/>
                </a:solidFill>
                <a:latin typeface="Calibri" pitchFamily="34" charset="0"/>
                <a:ea typeface="Calibri" pitchFamily="34" charset="-122"/>
                <a:cs typeface="Calibri" pitchFamily="34" charset="-120"/>
              </a:rPr>
              <a:t>Recover fast</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Automated database, search-index and config backups</a:t>
            </a:r>
            <a:endParaRPr lang="en-US" sz="980" dirty="0"/>
          </a:p>
          <a:p>
            <a:pPr marL="101600" indent="-101600" algn="l">
              <a:spcAft>
                <a:spcPts val="100"/>
              </a:spcAft>
              <a:buSzPct val="100000"/>
              <a:buChar char="•"/>
            </a:pPr>
            <a:r>
              <a:rPr lang="en-US" sz="860" dirty="0">
                <a:solidFill>
                  <a:srgbClr val="1A202C"/>
                </a:solidFill>
                <a:latin typeface="Calibri" pitchFamily="34" charset="0"/>
                <a:ea typeface="Calibri" pitchFamily="34" charset="-122"/>
                <a:cs typeface="Calibri" pitchFamily="34" charset="-120"/>
              </a:rPr>
              <a:t>Geo-redundant storage · point-in-time recovery &amp; failover</a:t>
            </a:r>
            <a:endParaRPr lang="en-US" sz="980" dirty="0"/>
          </a:p>
        </p:txBody>
      </p:sp>
      <p:sp>
        <p:nvSpPr>
          <p:cNvPr id="80" name="Shape 78"/>
          <p:cNvSpPr/>
          <p:nvPr/>
        </p:nvSpPr>
        <p:spPr>
          <a:xfrm>
            <a:off x="365760" y="6007608"/>
            <a:ext cx="4572000" cy="713232"/>
          </a:xfrm>
          <a:prstGeom prst="roundRect">
            <a:avLst>
              <a:gd name="adj" fmla="val 6410"/>
            </a:avLst>
          </a:prstGeom>
          <a:solidFill>
            <a:srgbClr val="FFFFFF"/>
          </a:solidFill>
          <a:ln w="15875">
            <a:solidFill>
              <a:srgbClr val="1F3864"/>
            </a:solidFill>
            <a:prstDash val="solid"/>
          </a:ln>
        </p:spPr>
      </p:sp>
      <p:sp>
        <p:nvSpPr>
          <p:cNvPr id="81" name="Text 79"/>
          <p:cNvSpPr/>
          <p:nvPr/>
        </p:nvSpPr>
        <p:spPr>
          <a:xfrm>
            <a:off x="429768" y="6053328"/>
            <a:ext cx="4462272" cy="640080"/>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Architecture Principles</a:t>
            </a:r>
            <a:endParaRPr lang="en-US" sz="980" dirty="0"/>
          </a:p>
          <a:p>
            <a:pPr marL="101600" indent="-101600" algn="l">
              <a:spcAft>
                <a:spcPts val="100"/>
              </a:spcAft>
              <a:buSzPct val="100000"/>
              <a:buChar char="•"/>
            </a:pPr>
            <a:r>
              <a:rPr lang="en-US" sz="800" dirty="0">
                <a:solidFill>
                  <a:srgbClr val="1A202C"/>
                </a:solidFill>
                <a:latin typeface="Calibri" pitchFamily="34" charset="0"/>
                <a:ea typeface="Calibri" pitchFamily="34" charset="-122"/>
                <a:cs typeface="Calibri" pitchFamily="34" charset="-120"/>
              </a:rPr>
              <a:t>Modular &amp; decoupled · Scalable &amp; elastic · Secure by design · Observable</a:t>
            </a:r>
            <a:endParaRPr lang="en-US" sz="980" dirty="0"/>
          </a:p>
          <a:p>
            <a:pPr marL="101600" indent="-101600" algn="l">
              <a:spcAft>
                <a:spcPts val="100"/>
              </a:spcAft>
              <a:buSzPct val="100000"/>
              <a:buChar char="•"/>
            </a:pPr>
            <a:r>
              <a:rPr lang="en-US" sz="800" dirty="0">
                <a:solidFill>
                  <a:srgbClr val="1A202C"/>
                </a:solidFill>
                <a:latin typeface="Calibri" pitchFamily="34" charset="0"/>
                <a:ea typeface="Calibri" pitchFamily="34" charset="-122"/>
                <a:cs typeface="Calibri" pitchFamily="34" charset="-120"/>
              </a:rPr>
              <a:t>Cost governed · AI-native · Open standards (MCP, OTel) · Azure-native</a:t>
            </a:r>
            <a:endParaRPr lang="en-US" sz="980" dirty="0"/>
          </a:p>
        </p:txBody>
      </p:sp>
      <p:sp>
        <p:nvSpPr>
          <p:cNvPr id="82" name="Shape 80"/>
          <p:cNvSpPr/>
          <p:nvPr/>
        </p:nvSpPr>
        <p:spPr>
          <a:xfrm>
            <a:off x="5029200" y="6007608"/>
            <a:ext cx="2926080" cy="713232"/>
          </a:xfrm>
          <a:prstGeom prst="roundRect">
            <a:avLst>
              <a:gd name="adj" fmla="val 6410"/>
            </a:avLst>
          </a:prstGeom>
          <a:solidFill>
            <a:srgbClr val="FFFFFF"/>
          </a:solidFill>
          <a:ln w="15875">
            <a:solidFill>
              <a:srgbClr val="1F3864"/>
            </a:solidFill>
            <a:prstDash val="solid"/>
          </a:ln>
        </p:spPr>
      </p:sp>
      <p:sp>
        <p:nvSpPr>
          <p:cNvPr id="83" name="Text 81"/>
          <p:cNvSpPr/>
          <p:nvPr/>
        </p:nvSpPr>
        <p:spPr>
          <a:xfrm>
            <a:off x="5093208" y="6044184"/>
            <a:ext cx="2834640" cy="182880"/>
          </a:xfrm>
          <a:prstGeom prst="rect">
            <a:avLst/>
          </a:prstGeom>
          <a:noFill/>
          <a:ln/>
        </p:spPr>
        <p:txBody>
          <a:bodyPr wrap="square" lIns="0" tIns="0" rIns="0" bIns="0"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Legend (data flow)</a:t>
            </a:r>
            <a:endParaRPr lang="en-US" sz="900" dirty="0"/>
          </a:p>
        </p:txBody>
      </p:sp>
      <p:sp>
        <p:nvSpPr>
          <p:cNvPr id="84" name="Shape 82"/>
          <p:cNvSpPr/>
          <p:nvPr/>
        </p:nvSpPr>
        <p:spPr>
          <a:xfrm>
            <a:off x="5138928" y="6309360"/>
            <a:ext cx="548640" cy="0"/>
          </a:xfrm>
          <a:prstGeom prst="line">
            <a:avLst/>
          </a:prstGeom>
          <a:noFill/>
          <a:ln w="15875">
            <a:solidFill>
              <a:srgbClr val="8A99AD"/>
            </a:solidFill>
            <a:prstDash val="solid"/>
            <a:tailEnd type="triangle"/>
          </a:ln>
        </p:spPr>
      </p:sp>
      <p:sp>
        <p:nvSpPr>
          <p:cNvPr id="85" name="Text 83"/>
          <p:cNvSpPr/>
          <p:nvPr/>
        </p:nvSpPr>
        <p:spPr>
          <a:xfrm>
            <a:off x="5779008" y="6236208"/>
            <a:ext cx="2103120" cy="146304"/>
          </a:xfrm>
          <a:prstGeom prst="rect">
            <a:avLst/>
          </a:prstGeom>
          <a:noFill/>
          <a:ln/>
        </p:spPr>
        <p:txBody>
          <a:bodyPr wrap="square" lIns="0" tIns="0" rIns="0" bIns="0" rtlCol="0" anchor="ctr"/>
          <a:lstStyle/>
          <a:p>
            <a:pPr marL="0" indent="0">
              <a:buNone/>
            </a:pPr>
            <a:r>
              <a:rPr lang="en-US" sz="800" dirty="0">
                <a:solidFill>
                  <a:srgbClr val="1A202C"/>
                </a:solidFill>
                <a:latin typeface="Calibri" pitchFamily="34" charset="0"/>
                <a:ea typeface="Calibri" pitchFamily="34" charset="-122"/>
                <a:cs typeface="Calibri" pitchFamily="34" charset="-120"/>
              </a:rPr>
              <a:t>Synchronous flow</a:t>
            </a:r>
            <a:endParaRPr lang="en-US" sz="800" dirty="0"/>
          </a:p>
        </p:txBody>
      </p:sp>
      <p:sp>
        <p:nvSpPr>
          <p:cNvPr id="86" name="Shape 84"/>
          <p:cNvSpPr/>
          <p:nvPr/>
        </p:nvSpPr>
        <p:spPr>
          <a:xfrm>
            <a:off x="5138928" y="6446520"/>
            <a:ext cx="548640" cy="0"/>
          </a:xfrm>
          <a:prstGeom prst="line">
            <a:avLst/>
          </a:prstGeom>
          <a:noFill/>
          <a:ln w="15875">
            <a:solidFill>
              <a:srgbClr val="8A99AD"/>
            </a:solidFill>
            <a:prstDash val="dash"/>
            <a:tailEnd type="triangle"/>
          </a:ln>
        </p:spPr>
      </p:sp>
      <p:sp>
        <p:nvSpPr>
          <p:cNvPr id="87" name="Text 85"/>
          <p:cNvSpPr/>
          <p:nvPr/>
        </p:nvSpPr>
        <p:spPr>
          <a:xfrm>
            <a:off x="5779008" y="6373368"/>
            <a:ext cx="2103120" cy="146304"/>
          </a:xfrm>
          <a:prstGeom prst="rect">
            <a:avLst/>
          </a:prstGeom>
          <a:noFill/>
          <a:ln/>
        </p:spPr>
        <p:txBody>
          <a:bodyPr wrap="square" lIns="0" tIns="0" rIns="0" bIns="0" rtlCol="0" anchor="ctr"/>
          <a:lstStyle/>
          <a:p>
            <a:pPr marL="0" indent="0">
              <a:buNone/>
            </a:pPr>
            <a:r>
              <a:rPr lang="en-US" sz="800" dirty="0">
                <a:solidFill>
                  <a:srgbClr val="1A202C"/>
                </a:solidFill>
                <a:latin typeface="Calibri" pitchFamily="34" charset="0"/>
                <a:ea typeface="Calibri" pitchFamily="34" charset="-122"/>
                <a:cs typeface="Calibri" pitchFamily="34" charset="-120"/>
              </a:rPr>
              <a:t>Asynchronous flow</a:t>
            </a:r>
            <a:endParaRPr lang="en-US" sz="800" dirty="0"/>
          </a:p>
        </p:txBody>
      </p:sp>
      <p:sp>
        <p:nvSpPr>
          <p:cNvPr id="88" name="Shape 86"/>
          <p:cNvSpPr/>
          <p:nvPr/>
        </p:nvSpPr>
        <p:spPr>
          <a:xfrm>
            <a:off x="5138928" y="6583680"/>
            <a:ext cx="548640" cy="0"/>
          </a:xfrm>
          <a:prstGeom prst="line">
            <a:avLst/>
          </a:prstGeom>
          <a:noFill/>
          <a:ln w="15875">
            <a:solidFill>
              <a:srgbClr val="C0504D"/>
            </a:solidFill>
            <a:prstDash val="sysDot"/>
            <a:tailEnd type="triangle"/>
          </a:ln>
        </p:spPr>
      </p:sp>
      <p:sp>
        <p:nvSpPr>
          <p:cNvPr id="89" name="Text 87"/>
          <p:cNvSpPr/>
          <p:nvPr/>
        </p:nvSpPr>
        <p:spPr>
          <a:xfrm>
            <a:off x="5779008" y="6510528"/>
            <a:ext cx="2103120" cy="146304"/>
          </a:xfrm>
          <a:prstGeom prst="rect">
            <a:avLst/>
          </a:prstGeom>
          <a:noFill/>
          <a:ln/>
        </p:spPr>
        <p:txBody>
          <a:bodyPr wrap="square" lIns="0" tIns="0" rIns="0" bIns="0" rtlCol="0" anchor="ctr"/>
          <a:lstStyle/>
          <a:p>
            <a:pPr marL="0" indent="0">
              <a:buNone/>
            </a:pPr>
            <a:r>
              <a:rPr lang="en-US" sz="800" dirty="0">
                <a:solidFill>
                  <a:srgbClr val="1A202C"/>
                </a:solidFill>
                <a:latin typeface="Calibri" pitchFamily="34" charset="0"/>
                <a:ea typeface="Calibri" pitchFamily="34" charset="-122"/>
                <a:cs typeface="Calibri" pitchFamily="34" charset="-120"/>
              </a:rPr>
              <a:t>Management / control flow</a:t>
            </a:r>
            <a:endParaRPr lang="en-US" sz="800" dirty="0"/>
          </a:p>
        </p:txBody>
      </p:sp>
      <p:sp>
        <p:nvSpPr>
          <p:cNvPr id="90" name="Shape 88"/>
          <p:cNvSpPr/>
          <p:nvPr/>
        </p:nvSpPr>
        <p:spPr>
          <a:xfrm>
            <a:off x="8046720" y="6007608"/>
            <a:ext cx="3776472" cy="713232"/>
          </a:xfrm>
          <a:prstGeom prst="roundRect">
            <a:avLst>
              <a:gd name="adj" fmla="val 6410"/>
            </a:avLst>
          </a:prstGeom>
          <a:solidFill>
            <a:srgbClr val="FFFFFF"/>
          </a:solidFill>
          <a:ln w="15875">
            <a:solidFill>
              <a:srgbClr val="1F3864"/>
            </a:solidFill>
            <a:prstDash val="solid"/>
          </a:ln>
        </p:spPr>
      </p:sp>
      <p:sp>
        <p:nvSpPr>
          <p:cNvPr id="91" name="Text 89"/>
          <p:cNvSpPr/>
          <p:nvPr/>
        </p:nvSpPr>
        <p:spPr>
          <a:xfrm>
            <a:off x="8110728" y="6053328"/>
            <a:ext cx="3666744" cy="640080"/>
          </a:xfrm>
          <a:prstGeom prst="rect">
            <a:avLst/>
          </a:prstGeom>
          <a:noFill/>
          <a:ln/>
        </p:spPr>
        <p:txBody>
          <a:bodyPr wrap="square" lIns="0" tIns="0" rIns="0" bIns="0" rtlCol="0" anchor="t"/>
          <a:lstStyle/>
          <a:p>
            <a:pPr marL="0" indent="0" algn="l">
              <a:spcAft>
                <a:spcPts val="100"/>
              </a:spcAft>
              <a:buNone/>
            </a:pPr>
            <a:r>
              <a:rPr lang="en-US" sz="980" b="1" dirty="0">
                <a:solidFill>
                  <a:srgbClr val="1F3864"/>
                </a:solidFill>
                <a:latin typeface="Calibri" pitchFamily="34" charset="0"/>
                <a:ea typeface="Calibri" pitchFamily="34" charset="-122"/>
                <a:cs typeface="Calibri" pitchFamily="34" charset="-120"/>
              </a:rPr>
              <a:t>Notes</a:t>
            </a:r>
            <a:endParaRPr lang="en-US" sz="980" dirty="0"/>
          </a:p>
          <a:p>
            <a:pPr marL="101600" indent="-101600" algn="l">
              <a:spcAft>
                <a:spcPts val="100"/>
              </a:spcAft>
              <a:buSzPct val="100000"/>
              <a:buChar char="•"/>
            </a:pPr>
            <a:r>
              <a:rPr lang="en-US" sz="780" dirty="0">
                <a:solidFill>
                  <a:srgbClr val="1A202C"/>
                </a:solidFill>
                <a:latin typeface="Calibri" pitchFamily="34" charset="0"/>
                <a:ea typeface="Calibri" pitchFamily="34" charset="-122"/>
                <a:cs typeface="Calibri" pitchFamily="34" charset="-120"/>
              </a:rPr>
              <a:t>Reference design for Ball beverage-packaging operations, plant floor to cloud</a:t>
            </a:r>
            <a:endParaRPr lang="en-US" sz="980" dirty="0"/>
          </a:p>
          <a:p>
            <a:pPr marL="101600" indent="-101600" algn="l">
              <a:spcAft>
                <a:spcPts val="100"/>
              </a:spcAft>
              <a:buSzPct val="100000"/>
              <a:buChar char="•"/>
            </a:pPr>
            <a:r>
              <a:rPr lang="en-US" sz="780" dirty="0">
                <a:solidFill>
                  <a:srgbClr val="1A202C"/>
                </a:solidFill>
                <a:latin typeface="Calibri" pitchFamily="34" charset="0"/>
                <a:ea typeface="Calibri" pitchFamily="34" charset="-122"/>
                <a:cs typeface="Calibri" pitchFamily="34" charset="-120"/>
              </a:rPr>
              <a:t>Non-Azure models via API Management; plant-edge on Azure Local; costs vary by region</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746</Words>
  <Application>Microsoft Macintosh PowerPoint</Application>
  <PresentationFormat>Widescreen</PresentationFormat>
  <Paragraphs>122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 B</cp:lastModifiedBy>
  <cp:revision>1</cp:revision>
  <dcterms:created xsi:type="dcterms:W3CDTF">2026-10-05T22:29:36Z</dcterms:created>
  <dcterms:modified xsi:type="dcterms:W3CDTF">2026-10-05T22:35:21Z</dcterms:modified>
</cp:coreProperties>
</file>